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ad46294-da68-8d44-4d09-e362ad9a465d}">
          <p14:sldIdLst>
            <p14:sldId id="256"/>
            <p14:sldId id="257"/>
          </p14:sldIdLst>
        </p14:section>
        <p14:section name="Pipeline" id="{4bcb9125-7915-3c47-8b45-60e3831a476f}">
          <p14:sldIdLst>
            <p14:sldId id="258"/>
            <p14:sldId id="259"/>
            <p14:sldId id="260"/>
            <p14:sldId id="261"/>
            <p14:sldId id="262"/>
          </p14:sldIdLst>
        </p14:section>
        <p14:section name="Security" id="{2bd63ab5-2ec1-eda4-46f6-e31c1ba2d49b}">
          <p14:sldIdLst>
            <p14:sldId id="263"/>
          </p14:sldIdLst>
        </p14:section>
        <p14:section name="Infrastructure" id="{6f03e8ce-dbc6-aa35-44ab-0bf468048ac4}">
          <p14:sldIdLst>
            <p14:sldId id="264"/>
          </p14:sldIdLst>
        </p14:section>
        <p14:section name="Kubernetes" id="{250110dc-dbe9-2095-d218-50793401916b}">
          <p14:sldIdLst>
            <p14:sldId id="265"/>
            <p14:sldId id="266"/>
          </p14:sldIdLst>
        </p14:section>
        <p14:section name="Monitoring" id="{f721873a-a087-cd17-c96c-0e28a94f3404}">
          <p14:sldIdLst>
            <p14:sldId id="267"/>
          </p14:sldIdLst>
        </p14:section>
        <p14:section name="Demo" id="{85f2d7e2-2410-3c83-ff74-caff0f2c061a}">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Samarth. My capstone is ClinicFlow, a front-desk appointment system for small clinics. The app is small on purpose; the focus is the path it takes from a commit on my laptop to a monitored, autoscaled deployment on Kubernetes, with AWS infrastructure built by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Reception staff register patients, manage doctors, and book appointments. The key business rule is that a doctor can't be double-booked within the same 30-minute slot; the API returns 409. The frontend is React, the backend FastAPI with SQLAlchemy and Alembic, the database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flow. A push to main runs lint and tests, builds both images, scans them with Trivy, and only if the scan passes pushes them to GitHub Container Registry tagged with the commit SHA. The CI then writes that SHA into the Helm values, and a helm upgrade rolls it out to Kubernetes, where the HPA scales it and Prometheus scrapes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Swagger shows the full API: CRUD for doctors, patients and appointments, plus stats. On the right, trying to book Dr. Rao into a slot that's already taken returns 409 and the form shows the clash.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22 pytest tests covering CRUD, validation and the double-booking edge cases. conftest swaps the database dependency for in-memory SQLite, so tests never touch Postgres. The repo has a proper .gitignore and short, meaningful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run as non-root users. The frontend is a multi-stage build so node and the source never ship. Compose starts Postgres, waits for it to be healthy, then the backend runs migrations, then the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three jobs. Test runs ruff, pytest and the frontend build. build-scan-push runs once per image. Deploy writes the new SHA into the Helm values so main always describes what should be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OS packages and Python packages. It blocked my first build: Starlette 0.41.3 had CVE-2025-62727, a denial of service through crafted Range headers, so I upgraded FastAPI. The Alpine nginx base also had 43 fixable HIGH CVEs, fixed with apk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the VPC and an EKS cluster in Mumbai. My account is on the AWS Free plan: the first apply hung because t3.medium isn't allowed. CloudTrail showed the RunInstances error, so I switched to c7i-flex.large. I deployed the same Helm chart there, then destroyed everything and confirmed nothing was left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one Helm chart. Two replicas each of frontend and backend, Postgres as a StatefulSet with a PVC. The Ingress sends / to the frontend and /api to the backend. Readiness checks the database, so a DB outage takes pods out of rotation instead of restart-looping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load generator against the API, the HPA saw CPU climb past the 60% target and scaled the backend from 2 to 6 pods, then back down when the load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request rate and latency per route plus two domain metrics: bookings by specialty and booking conflicts. A ServiceMonitor makes Prometheus scrape every pod; all targets are UP. The Grafana dashboard is shipped as a ConfigMap in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end-to-end demo I committed a small UI fix, watched the pipeline test, scan and push the new images, then ran the deploy script, which pulls main and runs helm upgrade. Both deployments rolled to the new SHA and the fix was visible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broke the deployment three ways on purpose: a bad image tag, a Service selector that matches no pods, and a wrong database password that keeps pods running but never ready. Each one has a diagnose and fix walkthrough in the troubleshooting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Trivy gate caught a real vulnerability; separating readiness from liveness matters; the cloud's own logs explain failures; and always destroy and verify.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0D3B3E"/>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chemeClr val="accent6"/>
                </a:solidFill>
              </a:rPr>
              <a:t>ClinicFlow  ·  DevOps Capstone</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cNvSpPr/>
          <p:nvPr/>
        </p:nvSpPr>
        <p:spPr>
          <a:xfrm>
            <a:off x="548640" y="1143000"/>
            <a:ext cx="685800" cy="685800"/>
          </a:xfrm>
          <a:prstGeom prst="ellipse">
            <a:avLst/>
          </a:prstGeom>
          <a:solidFill>
            <a:srgbClr val="0E8A72"/>
          </a:solidFill>
          <a:ln w="12700">
            <a:solidFill>
              <a:srgbClr val="0E8A72"/>
            </a:solidFill>
            <a:prstDash val="solid"/>
          </a:ln>
        </p:spPr>
      </p:sp>
      <p:sp>
        <p:nvSpPr>
          <p:cNvPr id="3" name="Text 1"/>
          <p:cNvSpPr txBox="1"/>
          <p:nvPr/>
        </p:nvSpPr>
        <p:spPr>
          <a:xfrm>
            <a:off x="548640" y="1115568"/>
            <a:ext cx="685800" cy="685800"/>
          </a:xfrm>
          <a:prstGeom prst="rect">
            <a:avLst/>
          </a:prstGeom>
          <a:noFill/>
          <a:ln/>
        </p:spPr>
        <p:txBody>
          <a:bodyPr wrap="square" lIns="0" tIns="0" rIns="0" bIns="0" rtlCol="0" anchor="ctr"/>
          <a:lstStyle/>
          <a:p>
            <a:pPr algn="ctr" indent="0" marL="0">
              <a:buNone/>
            </a:pPr>
            <a:r>
              <a:rPr lang="en-US" sz="3400" b="1" dirty="0">
                <a:solidFill>
                  <a:schemeClr val="bg1"/>
                </a:solidFill>
              </a:rPr>
              <a:t>+</a:t>
            </a:r>
            <a:endParaRPr lang="en-US" sz="3400" dirty="0"/>
          </a:p>
        </p:txBody>
      </p:sp>
      <p:sp>
        <p:nvSpPr>
          <p:cNvPr id="4" name="Text 2"/>
          <p:cNvSpPr txBox="1"/>
          <p:nvPr/>
        </p:nvSpPr>
        <p:spPr>
          <a:xfrm>
            <a:off x="548640" y="1965960"/>
            <a:ext cx="7772400" cy="822960"/>
          </a:xfrm>
          <a:prstGeom prst="rect">
            <a:avLst/>
          </a:prstGeom>
          <a:noFill/>
          <a:ln/>
        </p:spPr>
        <p:txBody>
          <a:bodyPr wrap="square" lIns="0" tIns="0" rIns="0" bIns="0" rtlCol="0" anchor="ctr"/>
          <a:lstStyle/>
          <a:p>
            <a:pPr indent="0" marL="0">
              <a:buNone/>
            </a:pPr>
            <a:r>
              <a:rPr lang="en-US" sz="4800" b="1" dirty="0">
                <a:solidFill>
                  <a:schemeClr val="bg1"/>
                </a:solidFill>
                <a:latin typeface="Arial" pitchFamily="34" charset="0"/>
                <a:ea typeface="Arial" pitchFamily="34" charset="-122"/>
                <a:cs typeface="Arial" pitchFamily="34" charset="-120"/>
              </a:rPr>
              <a:t>ClinicFlow</a:t>
            </a:r>
            <a:endParaRPr lang="en-US" sz="4800" dirty="0"/>
          </a:p>
        </p:txBody>
      </p:sp>
      <p:sp>
        <p:nvSpPr>
          <p:cNvPr id="5" name="Text 3"/>
          <p:cNvSpPr txBox="1"/>
          <p:nvPr/>
        </p:nvSpPr>
        <p:spPr>
          <a:xfrm>
            <a:off x="548640" y="2788920"/>
            <a:ext cx="7315200" cy="640080"/>
          </a:xfrm>
          <a:prstGeom prst="rect">
            <a:avLst/>
          </a:prstGeom>
          <a:noFill/>
          <a:ln/>
        </p:spPr>
        <p:txBody>
          <a:bodyPr wrap="square" lIns="0" tIns="0" rIns="0" bIns="0" rtlCol="0" anchor="ctr"/>
          <a:lstStyle/>
          <a:p>
            <a:pPr indent="0" marL="0">
              <a:buNone/>
            </a:pPr>
            <a:r>
              <a:rPr lang="en-US" sz="1800" dirty="0">
                <a:solidFill>
                  <a:srgbClr val="7FB8AC"/>
                </a:solidFill>
              </a:rPr>
              <a:t>A clinic appointment system, taken from a git commit to a monitored, autoscaled Kubernetes deployment</a:t>
            </a:r>
            <a:endParaRPr lang="en-US" sz="1800" dirty="0"/>
          </a:p>
        </p:txBody>
      </p:sp>
      <p:sp>
        <p:nvSpPr>
          <p:cNvPr id="6" name="Text 4"/>
          <p:cNvSpPr txBox="1"/>
          <p:nvPr/>
        </p:nvSpPr>
        <p:spPr>
          <a:xfrm>
            <a:off x="548640" y="4114800"/>
            <a:ext cx="8046720" cy="320040"/>
          </a:xfrm>
          <a:prstGeom prst="rect">
            <a:avLst/>
          </a:prstGeom>
          <a:noFill/>
          <a:ln/>
        </p:spPr>
        <p:txBody>
          <a:bodyPr wrap="square" lIns="0" tIns="0" rIns="0" bIns="0" rtlCol="0" anchor="ctr"/>
          <a:lstStyle/>
          <a:p>
            <a:pPr indent="0" marL="0">
              <a:buNone/>
            </a:pPr>
            <a:r>
              <a:rPr lang="en-US" sz="1200" dirty="0">
                <a:solidFill>
                  <a:schemeClr val="bg1"/>
                </a:solidFill>
              </a:rPr>
              <a:t>Samarth Deshpande  ·  DevOps Final Capstone  ·  github.com/SamarthPD-21/clinicflow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The app: front desk for a small clinic</a:t>
            </a:r>
            <a:endParaRPr lang="en-US" sz="2800" dirty="0"/>
          </a:p>
        </p:txBody>
      </p:sp>
      <p:sp>
        <p:nvSpPr>
          <p:cNvPr id="3" name="bullets"/>
          <p:cNvSpPr txBox="1"/>
          <p:nvPr/>
        </p:nvSpPr>
        <p:spPr>
          <a:xfrm>
            <a:off x="457200" y="1051560"/>
            <a:ext cx="3291840" cy="3474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Register patients and manage doctors on duty</a:t>
            </a:r>
            <a:endParaRPr lang="en-US" sz="1400" dirty="0"/>
          </a:p>
          <a:p>
            <a:pPr marL="177800" indent="-177800">
              <a:spcAft>
                <a:spcPts val="600"/>
              </a:spcAft>
              <a:buSzPct val="100000"/>
              <a:buChar char="•"/>
            </a:pPr>
            <a:r>
              <a:rPr lang="en-US" sz="1400" dirty="0">
                <a:solidFill>
                  <a:schemeClr val="tx1"/>
                </a:solidFill>
              </a:rPr>
              <a:t>Book appointments; the API refuses to double-book a doctor in the same 30-minute slot (HTTP 409)</a:t>
            </a:r>
            <a:endParaRPr lang="en-US" sz="1400" dirty="0"/>
          </a:p>
          <a:p>
            <a:pPr marL="177800" indent="-177800">
              <a:spcAft>
                <a:spcPts val="600"/>
              </a:spcAft>
              <a:buSzPct val="100000"/>
              <a:buChar char="•"/>
            </a:pPr>
            <a:r>
              <a:rPr lang="en-US" sz="1400" dirty="0">
                <a:solidFill>
                  <a:schemeClr val="tx1"/>
                </a:solidFill>
              </a:rPr>
              <a:t>Move each visit through the day: scheduled → checked in → completed / no-show</a:t>
            </a:r>
            <a:endParaRPr lang="en-US" sz="1400" dirty="0"/>
          </a:p>
          <a:p>
            <a:pPr marL="177800" indent="-177800">
              <a:spcAft>
                <a:spcPts val="600"/>
              </a:spcAft>
              <a:buSzPct val="100000"/>
              <a:buChar char="•"/>
            </a:pPr>
            <a:r>
              <a:rPr lang="en-US" sz="1400" dirty="0">
                <a:solidFill>
                  <a:schemeClr val="tx1"/>
                </a:solidFill>
              </a:rPr>
              <a:t>React + Vite frontend, FastAPI backend, PostgreSQL with Alembic migrations</a:t>
            </a:r>
            <a:endParaRPr lang="en-US" sz="1400" dirty="0"/>
          </a:p>
          <a:p>
            <a:pPr marL="177800" indent="-177800">
              <a:spcAft>
                <a:spcPts val="600"/>
              </a:spcAft>
              <a:buSzPct val="100000"/>
              <a:buChar char="•"/>
            </a:pPr>
            <a:r>
              <a:rPr lang="en-US" sz="1400" dirty="0">
                <a:solidFill>
                  <a:schemeClr val="tx1"/>
                </a:solidFill>
              </a:rPr>
              <a:t>15 REST endpoints, plus /health, /ready and /metrics</a:t>
            </a:r>
            <a:endParaRPr lang="en-US" sz="1400" dirty="0"/>
          </a:p>
        </p:txBody>
      </p:sp>
      <p:pic>
        <p:nvPicPr>
          <p:cNvPr id="4" name="dashboard" descr="m1-dashboard-ingress">    </p:cNvPr>
          <p:cNvPicPr>
            <a:picLocks noChangeAspect="1"/>
          </p:cNvPicPr>
          <p:nvPr/>
        </p:nvPicPr>
        <p:blipFill>
          <a:blip r:embed="rId1"/>
          <a:stretch>
            <a:fillRect/>
          </a:stretch>
        </p:blipFill>
        <p:spPr>
          <a:xfrm>
            <a:off x="3931920" y="1280160"/>
            <a:ext cx="4754880" cy="2971800"/>
          </a:xfrm>
          <a:prstGeom prst="rect">
            <a:avLst/>
          </a:prstGeom>
          <a:effectLst>
            <a:outerShdw sx="100000" sy="100000" kx="0" ky="0" algn="bl" rotWithShape="0" blurRad="76200" dist="25400" dir="5400000">
              <a:srgbClr val="000000">
                <a:alpha val="18000"/>
              </a:srgbClr>
            </a:outerShdw>
          </a:effectLst>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From commit to production</a:t>
            </a:r>
            <a:endParaRPr lang="en-US" sz="2800" dirty="0"/>
          </a:p>
        </p:txBody>
      </p:sp>
      <p:sp>
        <p:nvSpPr>
          <p:cNvPr id="3" name="step"/>
          <p:cNvSpPr/>
          <p:nvPr/>
        </p:nvSpPr>
        <p:spPr>
          <a:xfrm>
            <a:off x="457200" y="1143000"/>
            <a:ext cx="1783080" cy="1097280"/>
          </a:xfrm>
          <a:prstGeom prst="roundRect">
            <a:avLst>
              <a:gd name="adj" fmla="val 8333"/>
            </a:avLst>
          </a:prstGeom>
          <a:solidFill>
            <a:srgbClr val="EEF4F3"/>
          </a:solidFill>
          <a:ln w="12700">
            <a:solidFill>
              <a:srgbClr val="EEF4F3"/>
            </a:solidFill>
            <a:prstDash val="solid"/>
          </a:ln>
        </p:spPr>
      </p:sp>
      <p:sp>
        <p:nvSpPr>
          <p:cNvPr id="4" name="Shape 2"/>
          <p:cNvSpPr/>
          <p:nvPr/>
        </p:nvSpPr>
        <p:spPr>
          <a:xfrm>
            <a:off x="594360" y="1280160"/>
            <a:ext cx="384048" cy="384048"/>
          </a:xfrm>
          <a:prstGeom prst="ellipse">
            <a:avLst/>
          </a:prstGeom>
          <a:solidFill>
            <a:srgbClr val="0E8A72"/>
          </a:solidFill>
          <a:ln w="12700">
            <a:solidFill>
              <a:srgbClr val="0E8A72"/>
            </a:solidFill>
            <a:prstDash val="solid"/>
          </a:ln>
        </p:spPr>
      </p:sp>
      <p:sp>
        <p:nvSpPr>
          <p:cNvPr id="5" name="Text 3"/>
          <p:cNvSpPr txBox="1"/>
          <p:nvPr/>
        </p:nvSpPr>
        <p:spPr>
          <a:xfrm>
            <a:off x="59436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94360" y="1709928"/>
            <a:ext cx="1554480" cy="256032"/>
          </a:xfrm>
          <a:prstGeom prst="rect">
            <a:avLst/>
          </a:prstGeom>
          <a:noFill/>
          <a:ln/>
        </p:spPr>
        <p:txBody>
          <a:bodyPr wrap="square" lIns="0" tIns="0" rIns="0" bIns="0" rtlCol="0" anchor="ctr"/>
          <a:lstStyle/>
          <a:p>
            <a:pPr indent="0" marL="0">
              <a:buNone/>
            </a:pPr>
            <a:r>
              <a:rPr lang="en-US" sz="1500" b="1" dirty="0">
                <a:solidFill>
                  <a:schemeClr val="tx2"/>
                </a:solidFill>
              </a:rPr>
              <a:t>git push</a:t>
            </a:r>
            <a:endParaRPr lang="en-US" sz="1500" dirty="0"/>
          </a:p>
        </p:txBody>
      </p:sp>
      <p:sp>
        <p:nvSpPr>
          <p:cNvPr id="7" name="Text 5"/>
          <p:cNvSpPr txBox="1"/>
          <p:nvPr/>
        </p:nvSpPr>
        <p:spPr>
          <a:xfrm>
            <a:off x="594360" y="1947672"/>
            <a:ext cx="1554480" cy="228600"/>
          </a:xfrm>
          <a:prstGeom prst="rect">
            <a:avLst/>
          </a:prstGeom>
          <a:noFill/>
          <a:ln/>
        </p:spPr>
        <p:txBody>
          <a:bodyPr wrap="square" lIns="0" tIns="0" rIns="0" bIns="0" rtlCol="0" anchor="ctr"/>
          <a:lstStyle/>
          <a:p>
            <a:pPr indent="0" marL="0">
              <a:buNone/>
            </a:pPr>
            <a:r>
              <a:rPr lang="en-US" sz="1100" dirty="0">
                <a:solidFill>
                  <a:schemeClr val="accent6"/>
                </a:solidFill>
              </a:rPr>
              <a:t>GitHub</a:t>
            </a:r>
            <a:endParaRPr lang="en-US" sz="1100" dirty="0"/>
          </a:p>
        </p:txBody>
      </p:sp>
      <p:sp>
        <p:nvSpPr>
          <p:cNvPr id="8" name="Text 6"/>
          <p:cNvSpPr txBox="1"/>
          <p:nvPr/>
        </p:nvSpPr>
        <p:spPr>
          <a:xfrm>
            <a:off x="2240280" y="1463040"/>
            <a:ext cx="320040" cy="4114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9" name="step"/>
          <p:cNvSpPr/>
          <p:nvPr/>
        </p:nvSpPr>
        <p:spPr>
          <a:xfrm>
            <a:off x="2560320" y="1143000"/>
            <a:ext cx="1783080" cy="1097280"/>
          </a:xfrm>
          <a:prstGeom prst="roundRect">
            <a:avLst>
              <a:gd name="adj" fmla="val 8333"/>
            </a:avLst>
          </a:prstGeom>
          <a:solidFill>
            <a:srgbClr val="EEF4F3"/>
          </a:solidFill>
          <a:ln w="12700">
            <a:solidFill>
              <a:srgbClr val="EEF4F3"/>
            </a:solidFill>
            <a:prstDash val="solid"/>
          </a:ln>
        </p:spPr>
      </p:sp>
      <p:sp>
        <p:nvSpPr>
          <p:cNvPr id="10" name="Shape 8"/>
          <p:cNvSpPr/>
          <p:nvPr/>
        </p:nvSpPr>
        <p:spPr>
          <a:xfrm>
            <a:off x="2697480" y="1280160"/>
            <a:ext cx="384048" cy="384048"/>
          </a:xfrm>
          <a:prstGeom prst="ellipse">
            <a:avLst/>
          </a:prstGeom>
          <a:solidFill>
            <a:srgbClr val="2D6A8F"/>
          </a:solidFill>
          <a:ln w="12700">
            <a:solidFill>
              <a:srgbClr val="2D6A8F"/>
            </a:solidFill>
            <a:prstDash val="solid"/>
          </a:ln>
        </p:spPr>
      </p:sp>
      <p:sp>
        <p:nvSpPr>
          <p:cNvPr id="11" name="Text 9"/>
          <p:cNvSpPr txBox="1"/>
          <p:nvPr/>
        </p:nvSpPr>
        <p:spPr>
          <a:xfrm>
            <a:off x="26974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2697480" y="1709928"/>
            <a:ext cx="1554480" cy="256032"/>
          </a:xfrm>
          <a:prstGeom prst="rect">
            <a:avLst/>
          </a:prstGeom>
          <a:noFill/>
          <a:ln/>
        </p:spPr>
        <p:txBody>
          <a:bodyPr wrap="square" lIns="0" tIns="0" rIns="0" bIns="0" rtlCol="0" anchor="ctr"/>
          <a:lstStyle/>
          <a:p>
            <a:pPr indent="0" marL="0">
              <a:buNone/>
            </a:pPr>
            <a:r>
              <a:rPr lang="en-US" sz="1500" b="1" dirty="0">
                <a:solidFill>
                  <a:schemeClr val="tx2"/>
                </a:solidFill>
              </a:rPr>
              <a:t>Test</a:t>
            </a:r>
            <a:endParaRPr lang="en-US" sz="1500" dirty="0"/>
          </a:p>
        </p:txBody>
      </p:sp>
      <p:sp>
        <p:nvSpPr>
          <p:cNvPr id="13" name="Text 11"/>
          <p:cNvSpPr txBox="1"/>
          <p:nvPr/>
        </p:nvSpPr>
        <p:spPr>
          <a:xfrm>
            <a:off x="2697480" y="1947672"/>
            <a:ext cx="1554480" cy="228600"/>
          </a:xfrm>
          <a:prstGeom prst="rect">
            <a:avLst/>
          </a:prstGeom>
          <a:noFill/>
          <a:ln/>
        </p:spPr>
        <p:txBody>
          <a:bodyPr wrap="square" lIns="0" tIns="0" rIns="0" bIns="0" rtlCol="0" anchor="ctr"/>
          <a:lstStyle/>
          <a:p>
            <a:pPr indent="0" marL="0">
              <a:buNone/>
            </a:pPr>
            <a:r>
              <a:rPr lang="en-US" sz="1100" dirty="0">
                <a:solidFill>
                  <a:schemeClr val="accent6"/>
                </a:solidFill>
              </a:rPr>
              <a:t>ruff + pytest</a:t>
            </a:r>
            <a:endParaRPr lang="en-US" sz="1100" dirty="0"/>
          </a:p>
        </p:txBody>
      </p:sp>
      <p:sp>
        <p:nvSpPr>
          <p:cNvPr id="14" name="Text 12"/>
          <p:cNvSpPr txBox="1"/>
          <p:nvPr/>
        </p:nvSpPr>
        <p:spPr>
          <a:xfrm>
            <a:off x="4343400" y="1463040"/>
            <a:ext cx="320040" cy="4114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15" name="step"/>
          <p:cNvSpPr/>
          <p:nvPr/>
        </p:nvSpPr>
        <p:spPr>
          <a:xfrm>
            <a:off x="4663440" y="1143000"/>
            <a:ext cx="1783080" cy="1097280"/>
          </a:xfrm>
          <a:prstGeom prst="roundRect">
            <a:avLst>
              <a:gd name="adj" fmla="val 8333"/>
            </a:avLst>
          </a:prstGeom>
          <a:solidFill>
            <a:srgbClr val="EEF4F3"/>
          </a:solidFill>
          <a:ln w="12700">
            <a:solidFill>
              <a:srgbClr val="EEF4F3"/>
            </a:solidFill>
            <a:prstDash val="solid"/>
          </a:ln>
        </p:spPr>
      </p:sp>
      <p:sp>
        <p:nvSpPr>
          <p:cNvPr id="16" name="Shape 14"/>
          <p:cNvSpPr/>
          <p:nvPr/>
        </p:nvSpPr>
        <p:spPr>
          <a:xfrm>
            <a:off x="4800600" y="1280160"/>
            <a:ext cx="384048" cy="384048"/>
          </a:xfrm>
          <a:prstGeom prst="ellipse">
            <a:avLst/>
          </a:prstGeom>
          <a:solidFill>
            <a:srgbClr val="0E8A72"/>
          </a:solidFill>
          <a:ln w="12700">
            <a:solidFill>
              <a:srgbClr val="0E8A72"/>
            </a:solidFill>
            <a:prstDash val="solid"/>
          </a:ln>
        </p:spPr>
      </p:sp>
      <p:sp>
        <p:nvSpPr>
          <p:cNvPr id="17" name="Text 15"/>
          <p:cNvSpPr txBox="1"/>
          <p:nvPr/>
        </p:nvSpPr>
        <p:spPr>
          <a:xfrm>
            <a:off x="480060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4800600" y="1709928"/>
            <a:ext cx="1554480" cy="256032"/>
          </a:xfrm>
          <a:prstGeom prst="rect">
            <a:avLst/>
          </a:prstGeom>
          <a:noFill/>
          <a:ln/>
        </p:spPr>
        <p:txBody>
          <a:bodyPr wrap="square" lIns="0" tIns="0" rIns="0" bIns="0" rtlCol="0" anchor="ctr"/>
          <a:lstStyle/>
          <a:p>
            <a:pPr indent="0" marL="0">
              <a:buNone/>
            </a:pPr>
            <a:r>
              <a:rPr lang="en-US" sz="1500" b="1" dirty="0">
                <a:solidFill>
                  <a:schemeClr val="tx2"/>
                </a:solidFill>
              </a:rPr>
              <a:t>Build</a:t>
            </a:r>
            <a:endParaRPr lang="en-US" sz="1500" dirty="0"/>
          </a:p>
        </p:txBody>
      </p:sp>
      <p:sp>
        <p:nvSpPr>
          <p:cNvPr id="19" name="Text 17"/>
          <p:cNvSpPr txBox="1"/>
          <p:nvPr/>
        </p:nvSpPr>
        <p:spPr>
          <a:xfrm>
            <a:off x="4800600" y="1947672"/>
            <a:ext cx="1554480" cy="228600"/>
          </a:xfrm>
          <a:prstGeom prst="rect">
            <a:avLst/>
          </a:prstGeom>
          <a:noFill/>
          <a:ln/>
        </p:spPr>
        <p:txBody>
          <a:bodyPr wrap="square" lIns="0" tIns="0" rIns="0" bIns="0" rtlCol="0" anchor="ctr"/>
          <a:lstStyle/>
          <a:p>
            <a:pPr indent="0" marL="0">
              <a:buNone/>
            </a:pPr>
            <a:r>
              <a:rPr lang="en-US" sz="1100" dirty="0">
                <a:solidFill>
                  <a:schemeClr val="accent6"/>
                </a:solidFill>
              </a:rPr>
              <a:t>Docker images</a:t>
            </a:r>
            <a:endParaRPr lang="en-US" sz="1100" dirty="0"/>
          </a:p>
        </p:txBody>
      </p:sp>
      <p:sp>
        <p:nvSpPr>
          <p:cNvPr id="20" name="Text 18"/>
          <p:cNvSpPr txBox="1"/>
          <p:nvPr/>
        </p:nvSpPr>
        <p:spPr>
          <a:xfrm>
            <a:off x="6446520" y="1463040"/>
            <a:ext cx="320040" cy="4114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21" name="step"/>
          <p:cNvSpPr/>
          <p:nvPr/>
        </p:nvSpPr>
        <p:spPr>
          <a:xfrm>
            <a:off x="6766560" y="1143000"/>
            <a:ext cx="1783080" cy="1097280"/>
          </a:xfrm>
          <a:prstGeom prst="roundRect">
            <a:avLst>
              <a:gd name="adj" fmla="val 8333"/>
            </a:avLst>
          </a:prstGeom>
          <a:solidFill>
            <a:srgbClr val="EEF4F3"/>
          </a:solidFill>
          <a:ln w="12700">
            <a:solidFill>
              <a:srgbClr val="EEF4F3"/>
            </a:solidFill>
            <a:prstDash val="solid"/>
          </a:ln>
        </p:spPr>
      </p:sp>
      <p:sp>
        <p:nvSpPr>
          <p:cNvPr id="22" name="Shape 20"/>
          <p:cNvSpPr/>
          <p:nvPr/>
        </p:nvSpPr>
        <p:spPr>
          <a:xfrm>
            <a:off x="6903720" y="1280160"/>
            <a:ext cx="384048" cy="384048"/>
          </a:xfrm>
          <a:prstGeom prst="ellipse">
            <a:avLst/>
          </a:prstGeom>
          <a:solidFill>
            <a:srgbClr val="D1495B"/>
          </a:solidFill>
          <a:ln w="12700">
            <a:solidFill>
              <a:srgbClr val="D1495B"/>
            </a:solidFill>
            <a:prstDash val="solid"/>
          </a:ln>
        </p:spPr>
      </p:sp>
      <p:sp>
        <p:nvSpPr>
          <p:cNvPr id="23" name="Text 21"/>
          <p:cNvSpPr txBox="1"/>
          <p:nvPr/>
        </p:nvSpPr>
        <p:spPr>
          <a:xfrm>
            <a:off x="690372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6903720" y="1709928"/>
            <a:ext cx="1554480" cy="256032"/>
          </a:xfrm>
          <a:prstGeom prst="rect">
            <a:avLst/>
          </a:prstGeom>
          <a:noFill/>
          <a:ln/>
        </p:spPr>
        <p:txBody>
          <a:bodyPr wrap="square" lIns="0" tIns="0" rIns="0" bIns="0" rtlCol="0" anchor="ctr"/>
          <a:lstStyle/>
          <a:p>
            <a:pPr indent="0" marL="0">
              <a:buNone/>
            </a:pPr>
            <a:r>
              <a:rPr lang="en-US" sz="1500" b="1" dirty="0">
                <a:solidFill>
                  <a:schemeClr val="tx2"/>
                </a:solidFill>
              </a:rPr>
              <a:t>Scan</a:t>
            </a:r>
            <a:endParaRPr lang="en-US" sz="1500" dirty="0"/>
          </a:p>
        </p:txBody>
      </p:sp>
      <p:sp>
        <p:nvSpPr>
          <p:cNvPr id="25" name="Text 23"/>
          <p:cNvSpPr txBox="1"/>
          <p:nvPr/>
        </p:nvSpPr>
        <p:spPr>
          <a:xfrm>
            <a:off x="6903720" y="1947672"/>
            <a:ext cx="1554480" cy="228600"/>
          </a:xfrm>
          <a:prstGeom prst="rect">
            <a:avLst/>
          </a:prstGeom>
          <a:noFill/>
          <a:ln/>
        </p:spPr>
        <p:txBody>
          <a:bodyPr wrap="square" lIns="0" tIns="0" rIns="0" bIns="0" rtlCol="0" anchor="ctr"/>
          <a:lstStyle/>
          <a:p>
            <a:pPr indent="0" marL="0">
              <a:buNone/>
            </a:pPr>
            <a:r>
              <a:rPr lang="en-US" sz="1100" dirty="0">
                <a:solidFill>
                  <a:schemeClr val="accent6"/>
                </a:solidFill>
              </a:rPr>
              <a:t>Trivy gate</a:t>
            </a:r>
            <a:endParaRPr lang="en-US" sz="1100" dirty="0"/>
          </a:p>
        </p:txBody>
      </p:sp>
      <p:sp>
        <p:nvSpPr>
          <p:cNvPr id="26" name="step"/>
          <p:cNvSpPr/>
          <p:nvPr/>
        </p:nvSpPr>
        <p:spPr>
          <a:xfrm>
            <a:off x="457200" y="2743200"/>
            <a:ext cx="1783080" cy="1097280"/>
          </a:xfrm>
          <a:prstGeom prst="roundRect">
            <a:avLst>
              <a:gd name="adj" fmla="val 8333"/>
            </a:avLst>
          </a:prstGeom>
          <a:solidFill>
            <a:srgbClr val="EEF4F3"/>
          </a:solidFill>
          <a:ln w="12700">
            <a:solidFill>
              <a:srgbClr val="EEF4F3"/>
            </a:solidFill>
            <a:prstDash val="solid"/>
          </a:ln>
        </p:spPr>
      </p:sp>
      <p:sp>
        <p:nvSpPr>
          <p:cNvPr id="27" name="Shape 25"/>
          <p:cNvSpPr/>
          <p:nvPr/>
        </p:nvSpPr>
        <p:spPr>
          <a:xfrm>
            <a:off x="594360" y="2880360"/>
            <a:ext cx="384048" cy="384048"/>
          </a:xfrm>
          <a:prstGeom prst="ellipse">
            <a:avLst/>
          </a:prstGeom>
          <a:solidFill>
            <a:srgbClr val="2D6A8F"/>
          </a:solidFill>
          <a:ln w="12700">
            <a:solidFill>
              <a:srgbClr val="2D6A8F"/>
            </a:solidFill>
            <a:prstDash val="solid"/>
          </a:ln>
        </p:spPr>
      </p:sp>
      <p:sp>
        <p:nvSpPr>
          <p:cNvPr id="28" name="Text 26"/>
          <p:cNvSpPr txBox="1"/>
          <p:nvPr/>
        </p:nvSpPr>
        <p:spPr>
          <a:xfrm>
            <a:off x="594360" y="2880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9" name="Text 27"/>
          <p:cNvSpPr txBox="1"/>
          <p:nvPr/>
        </p:nvSpPr>
        <p:spPr>
          <a:xfrm>
            <a:off x="594360" y="3310128"/>
            <a:ext cx="1554480" cy="256032"/>
          </a:xfrm>
          <a:prstGeom prst="rect">
            <a:avLst/>
          </a:prstGeom>
          <a:noFill/>
          <a:ln/>
        </p:spPr>
        <p:txBody>
          <a:bodyPr wrap="square" lIns="0" tIns="0" rIns="0" bIns="0" rtlCol="0" anchor="ctr"/>
          <a:lstStyle/>
          <a:p>
            <a:pPr indent="0" marL="0">
              <a:buNone/>
            </a:pPr>
            <a:r>
              <a:rPr lang="en-US" sz="1500" b="1" dirty="0">
                <a:solidFill>
                  <a:schemeClr val="tx2"/>
                </a:solidFill>
              </a:rPr>
              <a:t>Publish</a:t>
            </a:r>
            <a:endParaRPr lang="en-US" sz="1500" dirty="0"/>
          </a:p>
        </p:txBody>
      </p:sp>
      <p:sp>
        <p:nvSpPr>
          <p:cNvPr id="30" name="Text 28"/>
          <p:cNvSpPr txBox="1"/>
          <p:nvPr/>
        </p:nvSpPr>
        <p:spPr>
          <a:xfrm>
            <a:off x="594360" y="3547872"/>
            <a:ext cx="1554480" cy="228600"/>
          </a:xfrm>
          <a:prstGeom prst="rect">
            <a:avLst/>
          </a:prstGeom>
          <a:noFill/>
          <a:ln/>
        </p:spPr>
        <p:txBody>
          <a:bodyPr wrap="square" lIns="0" tIns="0" rIns="0" bIns="0" rtlCol="0" anchor="ctr"/>
          <a:lstStyle/>
          <a:p>
            <a:pPr indent="0" marL="0">
              <a:buNone/>
            </a:pPr>
            <a:r>
              <a:rPr lang="en-US" sz="1100" dirty="0">
                <a:solidFill>
                  <a:schemeClr val="accent6"/>
                </a:solidFill>
              </a:rPr>
              <a:t>GHCR :sha</a:t>
            </a:r>
            <a:endParaRPr lang="en-US" sz="1100" dirty="0"/>
          </a:p>
        </p:txBody>
      </p:sp>
      <p:sp>
        <p:nvSpPr>
          <p:cNvPr id="31" name="Text 29"/>
          <p:cNvSpPr txBox="1"/>
          <p:nvPr/>
        </p:nvSpPr>
        <p:spPr>
          <a:xfrm>
            <a:off x="2240280" y="3063240"/>
            <a:ext cx="320040" cy="4114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32" name="step"/>
          <p:cNvSpPr/>
          <p:nvPr/>
        </p:nvSpPr>
        <p:spPr>
          <a:xfrm>
            <a:off x="2560320" y="2743200"/>
            <a:ext cx="1783080" cy="1097280"/>
          </a:xfrm>
          <a:prstGeom prst="roundRect">
            <a:avLst>
              <a:gd name="adj" fmla="val 8333"/>
            </a:avLst>
          </a:prstGeom>
          <a:solidFill>
            <a:srgbClr val="EEF4F3"/>
          </a:solidFill>
          <a:ln w="12700">
            <a:solidFill>
              <a:srgbClr val="EEF4F3"/>
            </a:solidFill>
            <a:prstDash val="solid"/>
          </a:ln>
        </p:spPr>
      </p:sp>
      <p:sp>
        <p:nvSpPr>
          <p:cNvPr id="33" name="Shape 31"/>
          <p:cNvSpPr/>
          <p:nvPr/>
        </p:nvSpPr>
        <p:spPr>
          <a:xfrm>
            <a:off x="2697480" y="2880360"/>
            <a:ext cx="384048" cy="384048"/>
          </a:xfrm>
          <a:prstGeom prst="ellipse">
            <a:avLst/>
          </a:prstGeom>
          <a:solidFill>
            <a:srgbClr val="0E8A72"/>
          </a:solidFill>
          <a:ln w="12700">
            <a:solidFill>
              <a:srgbClr val="0E8A72"/>
            </a:solidFill>
            <a:prstDash val="solid"/>
          </a:ln>
        </p:spPr>
      </p:sp>
      <p:sp>
        <p:nvSpPr>
          <p:cNvPr id="34" name="Text 32"/>
          <p:cNvSpPr txBox="1"/>
          <p:nvPr/>
        </p:nvSpPr>
        <p:spPr>
          <a:xfrm>
            <a:off x="2697480" y="2880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5" name="Text 33"/>
          <p:cNvSpPr txBox="1"/>
          <p:nvPr/>
        </p:nvSpPr>
        <p:spPr>
          <a:xfrm>
            <a:off x="2697480" y="3310128"/>
            <a:ext cx="1554480" cy="256032"/>
          </a:xfrm>
          <a:prstGeom prst="rect">
            <a:avLst/>
          </a:prstGeom>
          <a:noFill/>
          <a:ln/>
        </p:spPr>
        <p:txBody>
          <a:bodyPr wrap="square" lIns="0" tIns="0" rIns="0" bIns="0" rtlCol="0" anchor="ctr"/>
          <a:lstStyle/>
          <a:p>
            <a:pPr indent="0" marL="0">
              <a:buNone/>
            </a:pPr>
            <a:r>
              <a:rPr lang="en-US" sz="1500" b="1" dirty="0">
                <a:solidFill>
                  <a:schemeClr val="tx2"/>
                </a:solidFill>
              </a:rPr>
              <a:t>Deploy</a:t>
            </a:r>
            <a:endParaRPr lang="en-US" sz="1500" dirty="0"/>
          </a:p>
        </p:txBody>
      </p:sp>
      <p:sp>
        <p:nvSpPr>
          <p:cNvPr id="36" name="Text 34"/>
          <p:cNvSpPr txBox="1"/>
          <p:nvPr/>
        </p:nvSpPr>
        <p:spPr>
          <a:xfrm>
            <a:off x="2697480" y="3547872"/>
            <a:ext cx="1554480" cy="228600"/>
          </a:xfrm>
          <a:prstGeom prst="rect">
            <a:avLst/>
          </a:prstGeom>
          <a:noFill/>
          <a:ln/>
        </p:spPr>
        <p:txBody>
          <a:bodyPr wrap="square" lIns="0" tIns="0" rIns="0" bIns="0" rtlCol="0" anchor="ctr"/>
          <a:lstStyle/>
          <a:p>
            <a:pPr indent="0" marL="0">
              <a:buNone/>
            </a:pPr>
            <a:r>
              <a:rPr lang="en-US" sz="1100" dirty="0">
                <a:solidFill>
                  <a:schemeClr val="accent6"/>
                </a:solidFill>
              </a:rPr>
              <a:t>Helm upgrade</a:t>
            </a:r>
            <a:endParaRPr lang="en-US" sz="1100" dirty="0"/>
          </a:p>
        </p:txBody>
      </p:sp>
      <p:sp>
        <p:nvSpPr>
          <p:cNvPr id="37" name="Text 35"/>
          <p:cNvSpPr txBox="1"/>
          <p:nvPr/>
        </p:nvSpPr>
        <p:spPr>
          <a:xfrm>
            <a:off x="4343400" y="3063240"/>
            <a:ext cx="320040" cy="4114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38" name="step"/>
          <p:cNvSpPr/>
          <p:nvPr/>
        </p:nvSpPr>
        <p:spPr>
          <a:xfrm>
            <a:off x="4663440" y="2743200"/>
            <a:ext cx="1783080" cy="1097280"/>
          </a:xfrm>
          <a:prstGeom prst="roundRect">
            <a:avLst>
              <a:gd name="adj" fmla="val 8333"/>
            </a:avLst>
          </a:prstGeom>
          <a:solidFill>
            <a:srgbClr val="EEF4F3"/>
          </a:solidFill>
          <a:ln w="12700">
            <a:solidFill>
              <a:srgbClr val="EEF4F3"/>
            </a:solidFill>
            <a:prstDash val="solid"/>
          </a:ln>
        </p:spPr>
      </p:sp>
      <p:sp>
        <p:nvSpPr>
          <p:cNvPr id="39" name="Shape 37"/>
          <p:cNvSpPr/>
          <p:nvPr/>
        </p:nvSpPr>
        <p:spPr>
          <a:xfrm>
            <a:off x="4800600" y="2880360"/>
            <a:ext cx="384048" cy="384048"/>
          </a:xfrm>
          <a:prstGeom prst="ellipse">
            <a:avLst/>
          </a:prstGeom>
          <a:solidFill>
            <a:srgbClr val="2D6A8F"/>
          </a:solidFill>
          <a:ln w="12700">
            <a:solidFill>
              <a:srgbClr val="2D6A8F"/>
            </a:solidFill>
            <a:prstDash val="solid"/>
          </a:ln>
        </p:spPr>
      </p:sp>
      <p:sp>
        <p:nvSpPr>
          <p:cNvPr id="40" name="Text 38"/>
          <p:cNvSpPr txBox="1"/>
          <p:nvPr/>
        </p:nvSpPr>
        <p:spPr>
          <a:xfrm>
            <a:off x="4800600" y="2880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41" name="Text 39"/>
          <p:cNvSpPr txBox="1"/>
          <p:nvPr/>
        </p:nvSpPr>
        <p:spPr>
          <a:xfrm>
            <a:off x="4800600" y="3310128"/>
            <a:ext cx="1554480" cy="256032"/>
          </a:xfrm>
          <a:prstGeom prst="rect">
            <a:avLst/>
          </a:prstGeom>
          <a:noFill/>
          <a:ln/>
        </p:spPr>
        <p:txBody>
          <a:bodyPr wrap="square" lIns="0" tIns="0" rIns="0" bIns="0" rtlCol="0" anchor="ctr"/>
          <a:lstStyle/>
          <a:p>
            <a:pPr indent="0" marL="0">
              <a:buNone/>
            </a:pPr>
            <a:r>
              <a:rPr lang="en-US" sz="1500" b="1" dirty="0">
                <a:solidFill>
                  <a:schemeClr val="tx2"/>
                </a:solidFill>
              </a:rPr>
              <a:t>Run</a:t>
            </a:r>
            <a:endParaRPr lang="en-US" sz="1500" dirty="0"/>
          </a:p>
        </p:txBody>
      </p:sp>
      <p:sp>
        <p:nvSpPr>
          <p:cNvPr id="42" name="Text 40"/>
          <p:cNvSpPr txBox="1"/>
          <p:nvPr/>
        </p:nvSpPr>
        <p:spPr>
          <a:xfrm>
            <a:off x="4800600" y="3547872"/>
            <a:ext cx="1554480" cy="228600"/>
          </a:xfrm>
          <a:prstGeom prst="rect">
            <a:avLst/>
          </a:prstGeom>
          <a:noFill/>
          <a:ln/>
        </p:spPr>
        <p:txBody>
          <a:bodyPr wrap="square" lIns="0" tIns="0" rIns="0" bIns="0" rtlCol="0" anchor="ctr"/>
          <a:lstStyle/>
          <a:p>
            <a:pPr indent="0" marL="0">
              <a:buNone/>
            </a:pPr>
            <a:r>
              <a:rPr lang="en-US" sz="1100" dirty="0">
                <a:solidFill>
                  <a:schemeClr val="accent6"/>
                </a:solidFill>
              </a:rPr>
              <a:t>K8s + HPA</a:t>
            </a:r>
            <a:endParaRPr lang="en-US" sz="1100" dirty="0"/>
          </a:p>
        </p:txBody>
      </p:sp>
      <p:sp>
        <p:nvSpPr>
          <p:cNvPr id="43" name="Text 41"/>
          <p:cNvSpPr txBox="1"/>
          <p:nvPr/>
        </p:nvSpPr>
        <p:spPr>
          <a:xfrm>
            <a:off x="6446520" y="3063240"/>
            <a:ext cx="320040" cy="41148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44" name="step"/>
          <p:cNvSpPr/>
          <p:nvPr/>
        </p:nvSpPr>
        <p:spPr>
          <a:xfrm>
            <a:off x="6766560" y="2743200"/>
            <a:ext cx="1783080" cy="1097280"/>
          </a:xfrm>
          <a:prstGeom prst="roundRect">
            <a:avLst>
              <a:gd name="adj" fmla="val 8333"/>
            </a:avLst>
          </a:prstGeom>
          <a:solidFill>
            <a:srgbClr val="EEF4F3"/>
          </a:solidFill>
          <a:ln w="12700">
            <a:solidFill>
              <a:srgbClr val="EEF4F3"/>
            </a:solidFill>
            <a:prstDash val="solid"/>
          </a:ln>
        </p:spPr>
      </p:sp>
      <p:sp>
        <p:nvSpPr>
          <p:cNvPr id="45" name="Shape 43"/>
          <p:cNvSpPr/>
          <p:nvPr/>
        </p:nvSpPr>
        <p:spPr>
          <a:xfrm>
            <a:off x="6903720" y="2880360"/>
            <a:ext cx="384048" cy="384048"/>
          </a:xfrm>
          <a:prstGeom prst="ellipse">
            <a:avLst/>
          </a:prstGeom>
          <a:solidFill>
            <a:srgbClr val="F2A541"/>
          </a:solidFill>
          <a:ln w="12700">
            <a:solidFill>
              <a:srgbClr val="F2A541"/>
            </a:solidFill>
            <a:prstDash val="solid"/>
          </a:ln>
        </p:spPr>
      </p:sp>
      <p:sp>
        <p:nvSpPr>
          <p:cNvPr id="46" name="Text 44"/>
          <p:cNvSpPr txBox="1"/>
          <p:nvPr/>
        </p:nvSpPr>
        <p:spPr>
          <a:xfrm>
            <a:off x="6903720" y="2880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7" name="Text 45"/>
          <p:cNvSpPr txBox="1"/>
          <p:nvPr/>
        </p:nvSpPr>
        <p:spPr>
          <a:xfrm>
            <a:off x="6903720" y="3310128"/>
            <a:ext cx="1554480" cy="256032"/>
          </a:xfrm>
          <a:prstGeom prst="rect">
            <a:avLst/>
          </a:prstGeom>
          <a:noFill/>
          <a:ln/>
        </p:spPr>
        <p:txBody>
          <a:bodyPr wrap="square" lIns="0" tIns="0" rIns="0" bIns="0" rtlCol="0" anchor="ctr"/>
          <a:lstStyle/>
          <a:p>
            <a:pPr indent="0" marL="0">
              <a:buNone/>
            </a:pPr>
            <a:r>
              <a:rPr lang="en-US" sz="1500" b="1" dirty="0">
                <a:solidFill>
                  <a:schemeClr val="tx2"/>
                </a:solidFill>
              </a:rPr>
              <a:t>Observe</a:t>
            </a:r>
            <a:endParaRPr lang="en-US" sz="1500" dirty="0"/>
          </a:p>
        </p:txBody>
      </p:sp>
      <p:sp>
        <p:nvSpPr>
          <p:cNvPr id="48" name="Text 46"/>
          <p:cNvSpPr txBox="1"/>
          <p:nvPr/>
        </p:nvSpPr>
        <p:spPr>
          <a:xfrm>
            <a:off x="6903720" y="3547872"/>
            <a:ext cx="1554480" cy="228600"/>
          </a:xfrm>
          <a:prstGeom prst="rect">
            <a:avLst/>
          </a:prstGeom>
          <a:noFill/>
          <a:ln/>
        </p:spPr>
        <p:txBody>
          <a:bodyPr wrap="square" lIns="0" tIns="0" rIns="0" bIns="0" rtlCol="0" anchor="ctr"/>
          <a:lstStyle/>
          <a:p>
            <a:pPr indent="0" marL="0">
              <a:buNone/>
            </a:pPr>
            <a:r>
              <a:rPr lang="en-US" sz="1100" dirty="0">
                <a:solidFill>
                  <a:schemeClr val="accent6"/>
                </a:solidFill>
              </a:rPr>
              <a:t>Prometheus</a:t>
            </a:r>
            <a:endParaRPr lang="en-US" sz="1100" dirty="0"/>
          </a:p>
        </p:txBody>
      </p:sp>
      <p:sp>
        <p:nvSpPr>
          <p:cNvPr id="49" name="Text 47"/>
          <p:cNvSpPr txBox="1"/>
          <p:nvPr/>
        </p:nvSpPr>
        <p:spPr>
          <a:xfrm>
            <a:off x="457200" y="4297680"/>
            <a:ext cx="8229600" cy="274320"/>
          </a:xfrm>
          <a:prstGeom prst="rect">
            <a:avLst/>
          </a:prstGeom>
          <a:noFill/>
          <a:ln/>
        </p:spPr>
        <p:txBody>
          <a:bodyPr wrap="square" lIns="0" tIns="0" rIns="0" bIns="0" rtlCol="0" anchor="ctr"/>
          <a:lstStyle/>
          <a:p>
            <a:pPr indent="0" marL="0">
              <a:buNone/>
            </a:pPr>
            <a:r>
              <a:rPr lang="en-US" sz="1200" i="1" dirty="0">
                <a:solidFill>
                  <a:schemeClr val="accent6"/>
                </a:solidFill>
              </a:rPr>
              <a:t>Terraform builds the AWS VPC + EKS cluster the same chart deploys to</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API, database and the double-booking rule</a:t>
            </a:r>
            <a:endParaRPr lang="en-US" sz="2800" dirty="0"/>
          </a:p>
        </p:txBody>
      </p:sp>
      <p:pic>
        <p:nvPicPr>
          <p:cNvPr id="3" name="swagger" descr="m1-swagger-docs">    </p:cNvPr>
          <p:cNvPicPr>
            <a:picLocks noChangeAspect="1"/>
          </p:cNvPicPr>
          <p:nvPr/>
        </p:nvPicPr>
        <p:blipFill>
          <a:blip r:embed="rId1"/>
          <a:stretch>
            <a:fillRect/>
          </a:stretch>
        </p:blipFill>
        <p:spPr>
          <a:xfrm>
            <a:off x="1352763" y="960120"/>
            <a:ext cx="2232235" cy="3611880"/>
          </a:xfrm>
          <a:prstGeom prst="rect">
            <a:avLst/>
          </a:prstGeom>
          <a:effectLst>
            <a:outerShdw sx="100000" sy="100000" kx="0" ky="0" algn="bl" rotWithShape="0" blurRad="76200" dist="25400" dir="5400000">
              <a:srgbClr val="000000">
                <a:alpha val="18000"/>
              </a:srgbClr>
            </a:outerShdw>
          </a:effectLst>
        </p:spPr>
      </p:pic>
      <p:pic>
        <p:nvPicPr>
          <p:cNvPr id="4" name="conflict" descr="m1-booking-conflict-409">    </p:cNvPr>
          <p:cNvPicPr>
            <a:picLocks noChangeAspect="1"/>
          </p:cNvPicPr>
          <p:nvPr/>
        </p:nvPicPr>
        <p:blipFill>
          <a:blip r:embed="rId2"/>
          <a:stretch>
            <a:fillRect/>
          </a:stretch>
        </p:blipFill>
        <p:spPr>
          <a:xfrm>
            <a:off x="4773168" y="960120"/>
            <a:ext cx="3803904" cy="2377440"/>
          </a:xfrm>
          <a:prstGeom prst="rect">
            <a:avLst/>
          </a:prstGeom>
          <a:effectLst>
            <a:outerShdw sx="100000" sy="100000" kx="0" ky="0" algn="bl" rotWithShape="0" blurRad="76200" dist="25400" dir="5400000">
              <a:srgbClr val="000000">
                <a:alpha val="18000"/>
              </a:srgbClr>
            </a:outerShdw>
          </a:effectLst>
        </p:spPr>
      </p:pic>
      <p:sp>
        <p:nvSpPr>
          <p:cNvPr id="5" name="Text 1"/>
          <p:cNvSpPr txBox="1"/>
          <p:nvPr/>
        </p:nvSpPr>
        <p:spPr>
          <a:xfrm>
            <a:off x="4663440" y="3520440"/>
            <a:ext cx="4023360" cy="548640"/>
          </a:xfrm>
          <a:prstGeom prst="rect">
            <a:avLst/>
          </a:prstGeom>
          <a:noFill/>
          <a:ln/>
        </p:spPr>
        <p:txBody>
          <a:bodyPr wrap="square" lIns="0" tIns="0" rIns="0" bIns="0" rtlCol="0" anchor="ctr"/>
          <a:lstStyle/>
          <a:p>
            <a:pPr indent="0" marL="0">
              <a:buNone/>
            </a:pPr>
            <a:r>
              <a:rPr lang="en-US" sz="1300" dirty="0">
                <a:solidFill>
                  <a:schemeClr val="tx1"/>
                </a:solidFill>
              </a:rPr>
              <a:t>Booking a taken slot is rejected with 409 and shown in the UI</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Tests and version control</a:t>
            </a:r>
            <a:endParaRPr lang="en-US" sz="2800" dirty="0"/>
          </a:p>
        </p:txBody>
      </p:sp>
      <p:sp>
        <p:nvSpPr>
          <p:cNvPr id="3" name="stat-card"/>
          <p:cNvSpPr/>
          <p:nvPr/>
        </p:nvSpPr>
        <p:spPr>
          <a:xfrm>
            <a:off x="457200" y="1005840"/>
            <a:ext cx="1828800" cy="960120"/>
          </a:xfrm>
          <a:prstGeom prst="roundRect">
            <a:avLst>
              <a:gd name="adj" fmla="val 7619"/>
            </a:avLst>
          </a:prstGeom>
          <a:solidFill>
            <a:srgbClr val="EEF4F3"/>
          </a:solidFill>
          <a:ln w="12700">
            <a:solidFill>
              <a:srgbClr val="EEF4F3"/>
            </a:solidFill>
            <a:prstDash val="solid"/>
          </a:ln>
        </p:spPr>
      </p:sp>
      <p:sp>
        <p:nvSpPr>
          <p:cNvPr id="4" name="Text 2"/>
          <p:cNvSpPr txBox="1"/>
          <p:nvPr/>
        </p:nvSpPr>
        <p:spPr>
          <a:xfrm>
            <a:off x="594360" y="1078992"/>
            <a:ext cx="1554480" cy="502920"/>
          </a:xfrm>
          <a:prstGeom prst="rect">
            <a:avLst/>
          </a:prstGeom>
          <a:noFill/>
          <a:ln/>
        </p:spPr>
        <p:txBody>
          <a:bodyPr wrap="square" lIns="0" tIns="0" rIns="0" bIns="0" rtlCol="0" anchor="ctr"/>
          <a:lstStyle/>
          <a:p>
            <a:pPr indent="0" marL="0">
              <a:buNone/>
            </a:pPr>
            <a:r>
              <a:rPr lang="en-US" sz="3000" b="1" dirty="0">
                <a:solidFill>
                  <a:srgbClr val="0E8A72"/>
                </a:solidFill>
                <a:latin typeface="Arial" pitchFamily="34" charset="0"/>
                <a:ea typeface="Arial" pitchFamily="34" charset="-122"/>
                <a:cs typeface="Arial" pitchFamily="34" charset="-120"/>
              </a:rPr>
              <a:t>22</a:t>
            </a:r>
            <a:endParaRPr lang="en-US" sz="3000" dirty="0"/>
          </a:p>
        </p:txBody>
      </p:sp>
      <p:sp>
        <p:nvSpPr>
          <p:cNvPr id="5" name="Text 3"/>
          <p:cNvSpPr txBox="1"/>
          <p:nvPr/>
        </p:nvSpPr>
        <p:spPr>
          <a:xfrm>
            <a:off x="594360" y="1572768"/>
            <a:ext cx="1554480" cy="320040"/>
          </a:xfrm>
          <a:prstGeom prst="rect">
            <a:avLst/>
          </a:prstGeom>
          <a:noFill/>
          <a:ln/>
        </p:spPr>
        <p:txBody>
          <a:bodyPr wrap="square" lIns="0" tIns="0" rIns="0" bIns="0" rtlCol="0" anchor="ctr"/>
          <a:lstStyle/>
          <a:p>
            <a:pPr indent="0" marL="0">
              <a:buNone/>
            </a:pPr>
            <a:r>
              <a:rPr lang="en-US" sz="1100" dirty="0">
                <a:solidFill>
                  <a:schemeClr val="accent6"/>
                </a:solidFill>
              </a:rPr>
              <a:t>pytest tests, all passing</a:t>
            </a:r>
            <a:endParaRPr lang="en-US" sz="1100" dirty="0"/>
          </a:p>
        </p:txBody>
      </p:sp>
      <p:sp>
        <p:nvSpPr>
          <p:cNvPr id="6" name="stat-card"/>
          <p:cNvSpPr/>
          <p:nvPr/>
        </p:nvSpPr>
        <p:spPr>
          <a:xfrm>
            <a:off x="457200" y="2103120"/>
            <a:ext cx="1828800" cy="960120"/>
          </a:xfrm>
          <a:prstGeom prst="roundRect">
            <a:avLst>
              <a:gd name="adj" fmla="val 7619"/>
            </a:avLst>
          </a:prstGeom>
          <a:solidFill>
            <a:srgbClr val="EEF4F3"/>
          </a:solidFill>
          <a:ln w="12700">
            <a:solidFill>
              <a:srgbClr val="EEF4F3"/>
            </a:solidFill>
            <a:prstDash val="solid"/>
          </a:ln>
        </p:spPr>
      </p:sp>
      <p:sp>
        <p:nvSpPr>
          <p:cNvPr id="7" name="Text 5"/>
          <p:cNvSpPr txBox="1"/>
          <p:nvPr/>
        </p:nvSpPr>
        <p:spPr>
          <a:xfrm>
            <a:off x="594360" y="2176272"/>
            <a:ext cx="1554480" cy="502920"/>
          </a:xfrm>
          <a:prstGeom prst="rect">
            <a:avLst/>
          </a:prstGeom>
          <a:noFill/>
          <a:ln/>
        </p:spPr>
        <p:txBody>
          <a:bodyPr wrap="square" lIns="0" tIns="0" rIns="0" bIns="0" rtlCol="0" anchor="ctr"/>
          <a:lstStyle/>
          <a:p>
            <a:pPr indent="0" marL="0">
              <a:buNone/>
            </a:pPr>
            <a:r>
              <a:rPr lang="en-US" sz="3000" b="1" dirty="0">
                <a:solidFill>
                  <a:srgbClr val="2D6A8F"/>
                </a:solidFill>
                <a:latin typeface="Arial" pitchFamily="34" charset="0"/>
                <a:ea typeface="Arial" pitchFamily="34" charset="-122"/>
                <a:cs typeface="Arial" pitchFamily="34" charset="-120"/>
              </a:rPr>
              <a:t>SQLite</a:t>
            </a:r>
            <a:endParaRPr lang="en-US" sz="3000" dirty="0"/>
          </a:p>
        </p:txBody>
      </p:sp>
      <p:sp>
        <p:nvSpPr>
          <p:cNvPr id="8" name="Text 6"/>
          <p:cNvSpPr txBox="1"/>
          <p:nvPr/>
        </p:nvSpPr>
        <p:spPr>
          <a:xfrm>
            <a:off x="594360" y="2670048"/>
            <a:ext cx="1554480" cy="320040"/>
          </a:xfrm>
          <a:prstGeom prst="rect">
            <a:avLst/>
          </a:prstGeom>
          <a:noFill/>
          <a:ln/>
        </p:spPr>
        <p:txBody>
          <a:bodyPr wrap="square" lIns="0" tIns="0" rIns="0" bIns="0" rtlCol="0" anchor="ctr"/>
          <a:lstStyle/>
          <a:p>
            <a:pPr indent="0" marL="0">
              <a:buNone/>
            </a:pPr>
            <a:r>
              <a:rPr lang="en-US" sz="1100" dirty="0">
                <a:solidFill>
                  <a:schemeClr val="accent6"/>
                </a:solidFill>
              </a:rPr>
              <a:t>in-memory test DB, never prod</a:t>
            </a:r>
            <a:endParaRPr lang="en-US" sz="1100" dirty="0"/>
          </a:p>
        </p:txBody>
      </p:sp>
      <p:sp>
        <p:nvSpPr>
          <p:cNvPr id="9" name="stat-card"/>
          <p:cNvSpPr/>
          <p:nvPr/>
        </p:nvSpPr>
        <p:spPr>
          <a:xfrm>
            <a:off x="457200" y="3200400"/>
            <a:ext cx="1828800" cy="960120"/>
          </a:xfrm>
          <a:prstGeom prst="roundRect">
            <a:avLst>
              <a:gd name="adj" fmla="val 7619"/>
            </a:avLst>
          </a:prstGeom>
          <a:solidFill>
            <a:srgbClr val="EEF4F3"/>
          </a:solidFill>
          <a:ln w="12700">
            <a:solidFill>
              <a:srgbClr val="EEF4F3"/>
            </a:solidFill>
            <a:prstDash val="solid"/>
          </a:ln>
        </p:spPr>
      </p:sp>
      <p:sp>
        <p:nvSpPr>
          <p:cNvPr id="10" name="Text 8"/>
          <p:cNvSpPr txBox="1"/>
          <p:nvPr/>
        </p:nvSpPr>
        <p:spPr>
          <a:xfrm>
            <a:off x="594360" y="3273552"/>
            <a:ext cx="1554480" cy="502920"/>
          </a:xfrm>
          <a:prstGeom prst="rect">
            <a:avLst/>
          </a:prstGeom>
          <a:noFill/>
          <a:ln/>
        </p:spPr>
        <p:txBody>
          <a:bodyPr wrap="square" lIns="0" tIns="0" rIns="0" bIns="0" rtlCol="0" anchor="ctr"/>
          <a:lstStyle/>
          <a:p>
            <a:pPr indent="0" marL="0">
              <a:buNone/>
            </a:pPr>
            <a:r>
              <a:rPr lang="en-US" sz="3000" b="1" dirty="0">
                <a:solidFill>
                  <a:srgbClr val="0E8A72"/>
                </a:solidFill>
                <a:latin typeface="Arial" pitchFamily="34" charset="0"/>
                <a:ea typeface="Arial" pitchFamily="34" charset="-122"/>
                <a:cs typeface="Arial" pitchFamily="34" charset="-120"/>
              </a:rPr>
              <a:t>27</a:t>
            </a:r>
            <a:endParaRPr lang="en-US" sz="3000" dirty="0"/>
          </a:p>
        </p:txBody>
      </p:sp>
      <p:sp>
        <p:nvSpPr>
          <p:cNvPr id="11" name="Text 9"/>
          <p:cNvSpPr txBox="1"/>
          <p:nvPr/>
        </p:nvSpPr>
        <p:spPr>
          <a:xfrm>
            <a:off x="594360" y="3767328"/>
            <a:ext cx="1554480" cy="320040"/>
          </a:xfrm>
          <a:prstGeom prst="rect">
            <a:avLst/>
          </a:prstGeom>
          <a:noFill/>
          <a:ln/>
        </p:spPr>
        <p:txBody>
          <a:bodyPr wrap="square" lIns="0" tIns="0" rIns="0" bIns="0" rtlCol="0" anchor="ctr"/>
          <a:lstStyle/>
          <a:p>
            <a:pPr indent="0" marL="0">
              <a:buNone/>
            </a:pPr>
            <a:r>
              <a:rPr lang="en-US" sz="1100" dirty="0">
                <a:solidFill>
                  <a:schemeClr val="accent6"/>
                </a:solidFill>
              </a:rPr>
              <a:t>commits on main</a:t>
            </a:r>
            <a:endParaRPr lang="en-US" sz="1100" dirty="0"/>
          </a:p>
        </p:txBody>
      </p:sp>
      <p:pic>
        <p:nvPicPr>
          <p:cNvPr id="12" name="pytest" descr="m2-pytest-verbose">    </p:cNvPr>
          <p:cNvPicPr>
            <a:picLocks noChangeAspect="1"/>
          </p:cNvPicPr>
          <p:nvPr/>
        </p:nvPicPr>
        <p:blipFill>
          <a:blip r:embed="rId1"/>
          <a:stretch>
            <a:fillRect/>
          </a:stretch>
        </p:blipFill>
        <p:spPr>
          <a:xfrm>
            <a:off x="2514600" y="977661"/>
            <a:ext cx="6172200" cy="3576798"/>
          </a:xfrm>
          <a:prstGeom prst="rect">
            <a:avLst/>
          </a:prstGeom>
          <a:effectLst>
            <a:outerShdw sx="100000" sy="100000" kx="0" ky="0" algn="bl" rotWithShape="0" blurRad="76200" dist="25400" dir="5400000">
              <a:srgbClr val="000000">
                <a:alpha val="18000"/>
              </a:srgbClr>
            </a:outerShdw>
          </a:effectLst>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Docker: small, non-root images</a:t>
            </a:r>
            <a:endParaRPr lang="en-US" sz="2800" dirty="0"/>
          </a:p>
        </p:txBody>
      </p:sp>
      <p:sp>
        <p:nvSpPr>
          <p:cNvPr id="3" name="bullets"/>
          <p:cNvSpPr txBox="1"/>
          <p:nvPr/>
        </p:nvSpPr>
        <p:spPr>
          <a:xfrm>
            <a:off x="457200" y="1005840"/>
            <a:ext cx="8229600" cy="1280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Backend: python:3.12-slim, runs as uid 10001, healthcheck, migrations then uvicorn</a:t>
            </a:r>
            <a:endParaRPr lang="en-US" sz="1400" dirty="0"/>
          </a:p>
          <a:p>
            <a:pPr marL="177800" indent="-177800">
              <a:spcAft>
                <a:spcPts val="600"/>
              </a:spcAft>
              <a:buSzPct val="100000"/>
              <a:buChar char="•"/>
            </a:pPr>
            <a:r>
              <a:rPr lang="en-US" sz="1400" dirty="0">
                <a:solidFill>
                  <a:schemeClr val="tx1"/>
                </a:solidFill>
              </a:rPr>
              <a:t>Frontend: multi-stage, node build → nginx-unprivileged (uid 101, port 8080)</a:t>
            </a:r>
            <a:endParaRPr lang="en-US" sz="1400" dirty="0"/>
          </a:p>
          <a:p>
            <a:pPr marL="177800" indent="-177800">
              <a:spcAft>
                <a:spcPts val="600"/>
              </a:spcAft>
              <a:buSzPct val="100000"/>
              <a:buChar char="•"/>
            </a:pPr>
            <a:r>
              <a:rPr lang="en-US" sz="1400" dirty="0">
                <a:solidFill>
                  <a:schemeClr val="tx1"/>
                </a:solidFill>
              </a:rPr>
              <a:t>docker compose up --build: Postgres → backend → frontend, health-gated</a:t>
            </a:r>
            <a:endParaRPr lang="en-US" sz="1400" dirty="0"/>
          </a:p>
        </p:txBody>
      </p:sp>
      <p:pic>
        <p:nvPicPr>
          <p:cNvPr id="4" name="docker" descr="m4-docker-images-nonroot">    </p:cNvPr>
          <p:cNvPicPr>
            <a:picLocks noChangeAspect="1"/>
          </p:cNvPicPr>
          <p:nvPr/>
        </p:nvPicPr>
        <p:blipFill>
          <a:blip r:embed="rId1"/>
          <a:stretch>
            <a:fillRect/>
          </a:stretch>
        </p:blipFill>
        <p:spPr>
          <a:xfrm>
            <a:off x="457200" y="2723998"/>
            <a:ext cx="8229600" cy="1547165"/>
          </a:xfrm>
          <a:prstGeom prst="rect">
            <a:avLst/>
          </a:prstGeom>
          <a:effectLst>
            <a:outerShdw sx="100000" sy="100000" kx="0" ky="0" algn="bl" rotWithShape="0" blurRad="76200" dist="25400" dir="5400000">
              <a:srgbClr val="000000">
                <a:alpha val="18000"/>
              </a:srgbClr>
            </a:outerShdw>
          </a:effectLst>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GitHub Actions: test, build, scan, push</a:t>
            </a:r>
            <a:endParaRPr lang="en-US" sz="2800" dirty="0"/>
          </a:p>
        </p:txBody>
      </p:sp>
      <p:pic>
        <p:nvPicPr>
          <p:cNvPr id="3" name="actions" descr="m5-actions-run-green">    </p:cNvPr>
          <p:cNvPicPr>
            <a:picLocks noChangeAspect="1"/>
          </p:cNvPicPr>
          <p:nvPr/>
        </p:nvPicPr>
        <p:blipFill>
          <a:blip r:embed="rId1"/>
          <a:stretch>
            <a:fillRect/>
          </a:stretch>
        </p:blipFill>
        <p:spPr>
          <a:xfrm>
            <a:off x="457200" y="1080135"/>
            <a:ext cx="5394960" cy="3371850"/>
          </a:xfrm>
          <a:prstGeom prst="rect">
            <a:avLst/>
          </a:prstGeom>
          <a:effectLst>
            <a:outerShdw sx="100000" sy="100000" kx="0" ky="0" algn="bl" rotWithShape="0" blurRad="76200" dist="25400" dir="5400000">
              <a:srgbClr val="000000">
                <a:alpha val="18000"/>
              </a:srgbClr>
            </a:outerShdw>
          </a:effectLst>
        </p:spPr>
      </p:pic>
      <p:sp>
        <p:nvSpPr>
          <p:cNvPr id="4" name="pill"/>
          <p:cNvSpPr/>
          <p:nvPr/>
        </p:nvSpPr>
        <p:spPr>
          <a:xfrm>
            <a:off x="6126480" y="1097280"/>
            <a:ext cx="1097280" cy="292608"/>
          </a:xfrm>
          <a:prstGeom prst="roundRect">
            <a:avLst>
              <a:gd name="adj" fmla="val 50000"/>
            </a:avLst>
          </a:prstGeom>
          <a:solidFill>
            <a:srgbClr val="0E8A72"/>
          </a:solidFill>
          <a:ln w="12700">
            <a:solidFill>
              <a:srgbClr val="0E8A72"/>
            </a:solidFill>
            <a:prstDash val="solid"/>
          </a:ln>
        </p:spPr>
      </p:sp>
      <p:sp>
        <p:nvSpPr>
          <p:cNvPr id="5" name="Text 2"/>
          <p:cNvSpPr txBox="1"/>
          <p:nvPr/>
        </p:nvSpPr>
        <p:spPr>
          <a:xfrm>
            <a:off x="6126480" y="1097280"/>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test</a:t>
            </a:r>
            <a:endParaRPr lang="en-US" sz="1100" dirty="0"/>
          </a:p>
        </p:txBody>
      </p:sp>
      <p:sp>
        <p:nvSpPr>
          <p:cNvPr id="6" name="pill"/>
          <p:cNvSpPr/>
          <p:nvPr/>
        </p:nvSpPr>
        <p:spPr>
          <a:xfrm>
            <a:off x="6126480" y="1508760"/>
            <a:ext cx="2377440" cy="292608"/>
          </a:xfrm>
          <a:prstGeom prst="roundRect">
            <a:avLst>
              <a:gd name="adj" fmla="val 50000"/>
            </a:avLst>
          </a:prstGeom>
          <a:solidFill>
            <a:srgbClr val="2D6A8F"/>
          </a:solidFill>
          <a:ln w="12700">
            <a:solidFill>
              <a:srgbClr val="2D6A8F"/>
            </a:solidFill>
            <a:prstDash val="solid"/>
          </a:ln>
        </p:spPr>
      </p:sp>
      <p:sp>
        <p:nvSpPr>
          <p:cNvPr id="7" name="Text 4"/>
          <p:cNvSpPr txBox="1"/>
          <p:nvPr/>
        </p:nvSpPr>
        <p:spPr>
          <a:xfrm>
            <a:off x="6126480" y="150876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build-scan-push ×2</a:t>
            </a:r>
            <a:endParaRPr lang="en-US" sz="1100" dirty="0"/>
          </a:p>
        </p:txBody>
      </p:sp>
      <p:sp>
        <p:nvSpPr>
          <p:cNvPr id="8" name="pill"/>
          <p:cNvSpPr/>
          <p:nvPr/>
        </p:nvSpPr>
        <p:spPr>
          <a:xfrm>
            <a:off x="6126480" y="1920240"/>
            <a:ext cx="1097280" cy="292608"/>
          </a:xfrm>
          <a:prstGeom prst="roundRect">
            <a:avLst>
              <a:gd name="adj" fmla="val 50000"/>
            </a:avLst>
          </a:prstGeom>
          <a:solidFill>
            <a:srgbClr val="F2A541"/>
          </a:solidFill>
          <a:ln w="12700">
            <a:solidFill>
              <a:srgbClr val="F2A541"/>
            </a:solidFill>
            <a:prstDash val="solid"/>
          </a:ln>
        </p:spPr>
      </p:sp>
      <p:sp>
        <p:nvSpPr>
          <p:cNvPr id="9" name="Text 6"/>
          <p:cNvSpPr txBox="1"/>
          <p:nvPr/>
        </p:nvSpPr>
        <p:spPr>
          <a:xfrm>
            <a:off x="6126480" y="1920240"/>
            <a:ext cx="1097280" cy="292608"/>
          </a:xfrm>
          <a:prstGeom prst="rect">
            <a:avLst/>
          </a:prstGeom>
          <a:noFill/>
          <a:ln/>
        </p:spPr>
        <p:txBody>
          <a:bodyPr wrap="square" lIns="0" tIns="0" rIns="0" bIns="0" rtlCol="0" anchor="ctr"/>
          <a:lstStyle/>
          <a:p>
            <a:pPr algn="ctr" indent="0" marL="0">
              <a:buNone/>
            </a:pPr>
            <a:r>
              <a:rPr lang="en-US" sz="1100" b="1" dirty="0">
                <a:solidFill>
                  <a:schemeClr val="bg1"/>
                </a:solidFill>
              </a:rPr>
              <a:t>deploy</a:t>
            </a:r>
            <a:endParaRPr lang="en-US" sz="1100" dirty="0"/>
          </a:p>
        </p:txBody>
      </p:sp>
      <p:sp>
        <p:nvSpPr>
          <p:cNvPr id="10" name="bullets"/>
          <p:cNvSpPr txBox="1"/>
          <p:nvPr/>
        </p:nvSpPr>
        <p:spPr>
          <a:xfrm>
            <a:off x="6126480" y="2468880"/>
            <a:ext cx="256032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Images tagged with the commit SHA, never latest</a:t>
            </a:r>
            <a:endParaRPr lang="en-US" sz="1300" dirty="0"/>
          </a:p>
          <a:p>
            <a:pPr marL="177800" indent="-177800">
              <a:spcAft>
                <a:spcPts val="600"/>
              </a:spcAft>
              <a:buSzPct val="100000"/>
              <a:buChar char="•"/>
            </a:pPr>
            <a:r>
              <a:rPr lang="en-US" sz="1300" dirty="0">
                <a:solidFill>
                  <a:schemeClr val="tx1"/>
                </a:solidFill>
              </a:rPr>
              <a:t>PRs build and scan but never push</a:t>
            </a:r>
            <a:endParaRPr lang="en-US" sz="1300" dirty="0"/>
          </a:p>
          <a:p>
            <a:pPr marL="177800" indent="-177800">
              <a:spcAft>
                <a:spcPts val="600"/>
              </a:spcAft>
              <a:buSzPct val="100000"/>
              <a:buChar char="•"/>
            </a:pPr>
            <a:r>
              <a:rPr lang="en-US" sz="1300" dirty="0">
                <a:solidFill>
                  <a:schemeClr val="tx1"/>
                </a:solidFill>
              </a:rPr>
              <a:t>Deploy job writes the SHA into values.yaml</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Trivy caught a real CVE</a:t>
            </a:r>
            <a:endParaRPr lang="en-US" sz="2800" dirty="0"/>
          </a:p>
        </p:txBody>
      </p:sp>
      <p:pic>
        <p:nvPicPr>
          <p:cNvPr id="3" name="trivy" descr="m6-trivy-gate-blocks-old-starlette">    </p:cNvPr>
          <p:cNvPicPr>
            <a:picLocks noChangeAspect="1"/>
          </p:cNvPicPr>
          <p:nvPr/>
        </p:nvPicPr>
        <p:blipFill>
          <a:blip r:embed="rId1"/>
          <a:stretch>
            <a:fillRect/>
          </a:stretch>
        </p:blipFill>
        <p:spPr>
          <a:xfrm>
            <a:off x="457200" y="964733"/>
            <a:ext cx="5120640" cy="3602655"/>
          </a:xfrm>
          <a:prstGeom prst="rect">
            <a:avLst/>
          </a:prstGeom>
          <a:effectLst>
            <a:outerShdw sx="100000" sy="100000" kx="0" ky="0" algn="bl" rotWithShape="0" blurRad="76200" dist="25400" dir="5400000">
              <a:srgbClr val="000000">
                <a:alpha val="18000"/>
              </a:srgbClr>
            </a:outerShdw>
          </a:effectLst>
        </p:spPr>
      </p:pic>
      <p:sp>
        <p:nvSpPr>
          <p:cNvPr id="4" name="stat-card"/>
          <p:cNvSpPr/>
          <p:nvPr/>
        </p:nvSpPr>
        <p:spPr>
          <a:xfrm>
            <a:off x="5806440" y="1005840"/>
            <a:ext cx="2880360" cy="960120"/>
          </a:xfrm>
          <a:prstGeom prst="roundRect">
            <a:avLst>
              <a:gd name="adj" fmla="val 7619"/>
            </a:avLst>
          </a:prstGeom>
          <a:solidFill>
            <a:srgbClr val="EEF4F3"/>
          </a:solidFill>
          <a:ln w="12700">
            <a:solidFill>
              <a:srgbClr val="EEF4F3"/>
            </a:solidFill>
            <a:prstDash val="solid"/>
          </a:ln>
        </p:spPr>
      </p:sp>
      <p:sp>
        <p:nvSpPr>
          <p:cNvPr id="5" name="Text 2"/>
          <p:cNvSpPr txBox="1"/>
          <p:nvPr/>
        </p:nvSpPr>
        <p:spPr>
          <a:xfrm>
            <a:off x="5943600" y="1078992"/>
            <a:ext cx="2606040" cy="502920"/>
          </a:xfrm>
          <a:prstGeom prst="rect">
            <a:avLst/>
          </a:prstGeom>
          <a:noFill/>
          <a:ln/>
        </p:spPr>
        <p:txBody>
          <a:bodyPr wrap="square" lIns="0" tIns="0" rIns="0" bIns="0" rtlCol="0" anchor="ctr"/>
          <a:lstStyle/>
          <a:p>
            <a:pPr indent="0" marL="0">
              <a:buNone/>
            </a:pPr>
            <a:r>
              <a:rPr lang="en-US" sz="2200" b="1" dirty="0">
                <a:solidFill>
                  <a:srgbClr val="D1495B"/>
                </a:solidFill>
                <a:latin typeface="Arial" pitchFamily="34" charset="0"/>
                <a:ea typeface="Arial" pitchFamily="34" charset="-122"/>
                <a:cs typeface="Arial" pitchFamily="34" charset="-120"/>
              </a:rPr>
              <a:t>CVE-2025-62727</a:t>
            </a:r>
            <a:endParaRPr lang="en-US" sz="2200" dirty="0"/>
          </a:p>
        </p:txBody>
      </p:sp>
      <p:sp>
        <p:nvSpPr>
          <p:cNvPr id="6" name="Text 3"/>
          <p:cNvSpPr txBox="1"/>
          <p:nvPr/>
        </p:nvSpPr>
        <p:spPr>
          <a:xfrm>
            <a:off x="5943600" y="1572768"/>
            <a:ext cx="2606040" cy="320040"/>
          </a:xfrm>
          <a:prstGeom prst="rect">
            <a:avLst/>
          </a:prstGeom>
          <a:noFill/>
          <a:ln/>
        </p:spPr>
        <p:txBody>
          <a:bodyPr wrap="square" lIns="0" tIns="0" rIns="0" bIns="0" rtlCol="0" anchor="ctr"/>
          <a:lstStyle/>
          <a:p>
            <a:pPr indent="0" marL="0">
              <a:buNone/>
            </a:pPr>
            <a:r>
              <a:rPr lang="en-US" sz="1100" dirty="0">
                <a:solidFill>
                  <a:schemeClr val="accent6"/>
                </a:solidFill>
              </a:rPr>
              <a:t>Starlette Range-header DoS</a:t>
            </a:r>
            <a:endParaRPr lang="en-US" sz="1100" dirty="0"/>
          </a:p>
        </p:txBody>
      </p:sp>
      <p:sp>
        <p:nvSpPr>
          <p:cNvPr id="7" name="stat-card"/>
          <p:cNvSpPr/>
          <p:nvPr/>
        </p:nvSpPr>
        <p:spPr>
          <a:xfrm>
            <a:off x="5806440" y="2103120"/>
            <a:ext cx="2880360" cy="960120"/>
          </a:xfrm>
          <a:prstGeom prst="roundRect">
            <a:avLst>
              <a:gd name="adj" fmla="val 7619"/>
            </a:avLst>
          </a:prstGeom>
          <a:solidFill>
            <a:srgbClr val="EEF4F3"/>
          </a:solidFill>
          <a:ln w="12700">
            <a:solidFill>
              <a:srgbClr val="EEF4F3"/>
            </a:solidFill>
            <a:prstDash val="solid"/>
          </a:ln>
        </p:spPr>
      </p:sp>
      <p:sp>
        <p:nvSpPr>
          <p:cNvPr id="8" name="Text 5"/>
          <p:cNvSpPr txBox="1"/>
          <p:nvPr/>
        </p:nvSpPr>
        <p:spPr>
          <a:xfrm>
            <a:off x="5943600" y="2176272"/>
            <a:ext cx="2606040" cy="502920"/>
          </a:xfrm>
          <a:prstGeom prst="rect">
            <a:avLst/>
          </a:prstGeom>
          <a:noFill/>
          <a:ln/>
        </p:spPr>
        <p:txBody>
          <a:bodyPr wrap="square" lIns="0" tIns="0" rIns="0" bIns="0" rtlCol="0" anchor="ctr"/>
          <a:lstStyle/>
          <a:p>
            <a:pPr indent="0" marL="0">
              <a:buNone/>
            </a:pPr>
            <a:r>
              <a:rPr lang="en-US" sz="3000" b="1" dirty="0">
                <a:solidFill>
                  <a:srgbClr val="0E8A72"/>
                </a:solidFill>
                <a:latin typeface="Arial" pitchFamily="34" charset="0"/>
                <a:ea typeface="Arial" pitchFamily="34" charset="-122"/>
                <a:cs typeface="Arial" pitchFamily="34" charset="-120"/>
              </a:rPr>
              <a:t>43 → 0</a:t>
            </a:r>
            <a:endParaRPr lang="en-US" sz="3000" dirty="0"/>
          </a:p>
        </p:txBody>
      </p:sp>
      <p:sp>
        <p:nvSpPr>
          <p:cNvPr id="9" name="Text 6"/>
          <p:cNvSpPr txBox="1"/>
          <p:nvPr/>
        </p:nvSpPr>
        <p:spPr>
          <a:xfrm>
            <a:off x="5943600" y="2670048"/>
            <a:ext cx="2606040" cy="320040"/>
          </a:xfrm>
          <a:prstGeom prst="rect">
            <a:avLst/>
          </a:prstGeom>
          <a:noFill/>
          <a:ln/>
        </p:spPr>
        <p:txBody>
          <a:bodyPr wrap="square" lIns="0" tIns="0" rIns="0" bIns="0" rtlCol="0" anchor="ctr"/>
          <a:lstStyle/>
          <a:p>
            <a:pPr indent="0" marL="0">
              <a:buNone/>
            </a:pPr>
            <a:r>
              <a:rPr lang="en-US" sz="1100" dirty="0">
                <a:solidFill>
                  <a:schemeClr val="accent6"/>
                </a:solidFill>
              </a:rPr>
              <a:t>fixable HIGH CVEs in the nginx base</a:t>
            </a:r>
            <a:endParaRPr lang="en-US" sz="1100" dirty="0"/>
          </a:p>
        </p:txBody>
      </p:sp>
      <p:sp>
        <p:nvSpPr>
          <p:cNvPr id="10" name="Text 7"/>
          <p:cNvSpPr txBox="1"/>
          <p:nvPr/>
        </p:nvSpPr>
        <p:spPr>
          <a:xfrm>
            <a:off x="5806440" y="3246120"/>
            <a:ext cx="2880360" cy="822960"/>
          </a:xfrm>
          <a:prstGeom prst="rect">
            <a:avLst/>
          </a:prstGeom>
          <a:noFill/>
          <a:ln/>
        </p:spPr>
        <p:txBody>
          <a:bodyPr wrap="square" lIns="0" tIns="0" rIns="0" bIns="0" rtlCol="0" anchor="ctr"/>
          <a:lstStyle/>
          <a:p>
            <a:pPr indent="0" marL="0">
              <a:buNone/>
            </a:pPr>
            <a:r>
              <a:rPr lang="en-US" sz="1300" dirty="0">
                <a:solidFill>
                  <a:schemeClr val="tx1"/>
                </a:solidFill>
              </a:rPr>
              <a:t>The scan fails the build on fixable HIGH/CRITICAL, so nothing vulnerable reaches GHCR</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Terraform: AWS VPC + EKS</a:t>
            </a:r>
            <a:endParaRPr lang="en-US" sz="2800" dirty="0"/>
          </a:p>
        </p:txBody>
      </p:sp>
      <p:pic>
        <p:nvPicPr>
          <p:cNvPr id="3" name="eks-console" descr="m7-aws-console-eks">    </p:cNvPr>
          <p:cNvPicPr>
            <a:picLocks noChangeAspect="1"/>
          </p:cNvPicPr>
          <p:nvPr/>
        </p:nvPicPr>
        <p:blipFill>
          <a:blip r:embed="rId1"/>
          <a:stretch>
            <a:fillRect/>
          </a:stretch>
        </p:blipFill>
        <p:spPr>
          <a:xfrm>
            <a:off x="457200" y="1377315"/>
            <a:ext cx="4937760" cy="2777490"/>
          </a:xfrm>
          <a:prstGeom prst="rect">
            <a:avLst/>
          </a:prstGeom>
          <a:effectLst>
            <a:outerShdw sx="100000" sy="100000" kx="0" ky="0" algn="bl" rotWithShape="0" blurRad="76200" dist="25400" dir="5400000">
              <a:srgbClr val="000000">
                <a:alpha val="18000"/>
              </a:srgbClr>
            </a:outerShdw>
          </a:effectLst>
        </p:spPr>
      </p:pic>
      <p:sp>
        <p:nvSpPr>
          <p:cNvPr id="4" name="stat-card"/>
          <p:cNvSpPr/>
          <p:nvPr/>
        </p:nvSpPr>
        <p:spPr>
          <a:xfrm>
            <a:off x="5623560" y="1005840"/>
            <a:ext cx="3063240" cy="960120"/>
          </a:xfrm>
          <a:prstGeom prst="roundRect">
            <a:avLst>
              <a:gd name="adj" fmla="val 7619"/>
            </a:avLst>
          </a:prstGeom>
          <a:solidFill>
            <a:srgbClr val="EEF4F3"/>
          </a:solidFill>
          <a:ln w="12700">
            <a:solidFill>
              <a:srgbClr val="EEF4F3"/>
            </a:solidFill>
            <a:prstDash val="solid"/>
          </a:ln>
        </p:spPr>
      </p:sp>
      <p:sp>
        <p:nvSpPr>
          <p:cNvPr id="5" name="Text 2"/>
          <p:cNvSpPr txBox="1"/>
          <p:nvPr/>
        </p:nvSpPr>
        <p:spPr>
          <a:xfrm>
            <a:off x="5760720" y="1078992"/>
            <a:ext cx="2788920" cy="502920"/>
          </a:xfrm>
          <a:prstGeom prst="rect">
            <a:avLst/>
          </a:prstGeom>
          <a:noFill/>
          <a:ln/>
        </p:spPr>
        <p:txBody>
          <a:bodyPr wrap="square" lIns="0" tIns="0" rIns="0" bIns="0" rtlCol="0" anchor="ctr"/>
          <a:lstStyle/>
          <a:p>
            <a:pPr indent="0" marL="0">
              <a:buNone/>
            </a:pPr>
            <a:r>
              <a:rPr lang="en-US" sz="3000" b="1" dirty="0">
                <a:solidFill>
                  <a:srgbClr val="0E8A72"/>
                </a:solidFill>
                <a:latin typeface="Arial" pitchFamily="34" charset="0"/>
                <a:ea typeface="Arial" pitchFamily="34" charset="-122"/>
                <a:cs typeface="Arial" pitchFamily="34" charset="-120"/>
              </a:rPr>
              <a:t>60</a:t>
            </a:r>
            <a:endParaRPr lang="en-US" sz="3000" dirty="0"/>
          </a:p>
        </p:txBody>
      </p:sp>
      <p:sp>
        <p:nvSpPr>
          <p:cNvPr id="6" name="Text 3"/>
          <p:cNvSpPr txBox="1"/>
          <p:nvPr/>
        </p:nvSpPr>
        <p:spPr>
          <a:xfrm>
            <a:off x="5760720" y="1572768"/>
            <a:ext cx="2788920" cy="320040"/>
          </a:xfrm>
          <a:prstGeom prst="rect">
            <a:avLst/>
          </a:prstGeom>
          <a:noFill/>
          <a:ln/>
        </p:spPr>
        <p:txBody>
          <a:bodyPr wrap="square" lIns="0" tIns="0" rIns="0" bIns="0" rtlCol="0" anchor="ctr"/>
          <a:lstStyle/>
          <a:p>
            <a:pPr indent="0" marL="0">
              <a:buNone/>
            </a:pPr>
            <a:r>
              <a:rPr lang="en-US" sz="1100" dirty="0">
                <a:solidFill>
                  <a:schemeClr val="accent6"/>
                </a:solidFill>
              </a:rPr>
              <a:t>resources from one terraform apply</a:t>
            </a:r>
            <a:endParaRPr lang="en-US" sz="1100" dirty="0"/>
          </a:p>
        </p:txBody>
      </p:sp>
      <p:sp>
        <p:nvSpPr>
          <p:cNvPr id="7" name="bullets"/>
          <p:cNvSpPr txBox="1"/>
          <p:nvPr/>
        </p:nvSpPr>
        <p:spPr>
          <a:xfrm>
            <a:off x="5623560" y="2148840"/>
            <a:ext cx="3063240" cy="23774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VPC: 2 public + 2 private subnets, NAT gateway</a:t>
            </a:r>
            <a:endParaRPr lang="en-US" sz="1200" dirty="0"/>
          </a:p>
          <a:p>
            <a:pPr marL="177800" indent="-177800">
              <a:spcAft>
                <a:spcPts val="600"/>
              </a:spcAft>
              <a:buSzPct val="100000"/>
              <a:buChar char="•"/>
            </a:pPr>
            <a:r>
              <a:rPr lang="en-US" sz="1200" dirty="0">
                <a:solidFill>
                  <a:schemeClr val="tx1"/>
                </a:solidFill>
              </a:rPr>
              <a:t>EKS 1.34, 2 × c7i-flex.large, EBS CSI add-on</a:t>
            </a:r>
            <a:endParaRPr lang="en-US" sz="1200" dirty="0"/>
          </a:p>
          <a:p>
            <a:pPr marL="177800" indent="-177800">
              <a:spcAft>
                <a:spcPts val="600"/>
              </a:spcAft>
              <a:buSzPct val="100000"/>
              <a:buChar char="•"/>
            </a:pPr>
            <a:r>
              <a:rPr lang="en-US" sz="1200" dirty="0">
                <a:solidFill>
                  <a:schemeClr val="tx1"/>
                </a:solidFill>
              </a:rPr>
              <a:t>Free plan blocked t3.medium; found it in CloudTrail and switched type</a:t>
            </a:r>
            <a:endParaRPr lang="en-US" sz="1200" dirty="0"/>
          </a:p>
          <a:p>
            <a:pPr marL="177800" indent="-177800">
              <a:spcAft>
                <a:spcPts val="600"/>
              </a:spcAft>
              <a:buSzPct val="100000"/>
              <a:buChar char="•"/>
            </a:pPr>
            <a:r>
              <a:rPr lang="en-US" sz="1200" dirty="0">
                <a:solidFill>
                  <a:schemeClr val="tx1"/>
                </a:solidFill>
              </a:rPr>
              <a:t>terraform destroy: 0 resources left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Kubernetes + Helm</a:t>
            </a:r>
            <a:endParaRPr lang="en-US" sz="2800" dirty="0"/>
          </a:p>
        </p:txBody>
      </p:sp>
      <p:pic>
        <p:nvPicPr>
          <p:cNvPr id="3" name="kubectl" descr="m8-kubectl-get-svc-ingress">    </p:cNvPr>
          <p:cNvPicPr>
            <a:picLocks noChangeAspect="1"/>
          </p:cNvPicPr>
          <p:nvPr/>
        </p:nvPicPr>
        <p:blipFill>
          <a:blip r:embed="rId1"/>
          <a:stretch>
            <a:fillRect/>
          </a:stretch>
        </p:blipFill>
        <p:spPr>
          <a:xfrm>
            <a:off x="457200" y="1862904"/>
            <a:ext cx="5394960" cy="1806313"/>
          </a:xfrm>
          <a:prstGeom prst="rect">
            <a:avLst/>
          </a:prstGeom>
          <a:effectLst>
            <a:outerShdw sx="100000" sy="100000" kx="0" ky="0" algn="bl" rotWithShape="0" blurRad="76200" dist="25400" dir="5400000">
              <a:srgbClr val="000000">
                <a:alpha val="18000"/>
              </a:srgbClr>
            </a:outerShdw>
          </a:effectLst>
        </p:spPr>
      </p:pic>
      <p:sp>
        <p:nvSpPr>
          <p:cNvPr id="4" name="bullets"/>
          <p:cNvSpPr txBox="1"/>
          <p:nvPr/>
        </p:nvSpPr>
        <p:spPr>
          <a:xfrm>
            <a:off x="6080760" y="1051560"/>
            <a:ext cx="260604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One Helm chart: Deployments, StatefulSet Postgres, ClusterIP Services, Ingress, HPA, ServiceMonitor</a:t>
            </a:r>
            <a:endParaRPr lang="en-US" sz="1300" dirty="0"/>
          </a:p>
          <a:p>
            <a:pPr marL="177800" indent="-177800">
              <a:spcAft>
                <a:spcPts val="600"/>
              </a:spcAft>
              <a:buSzPct val="100000"/>
              <a:buChar char="•"/>
            </a:pPr>
            <a:r>
              <a:rPr lang="en-US" sz="1300" dirty="0">
                <a:solidFill>
                  <a:schemeClr val="tx1"/>
                </a:solidFill>
              </a:rPr>
              <a:t>Ingress: / → frontend, /api → backend</a:t>
            </a:r>
            <a:endParaRPr lang="en-US" sz="1300" dirty="0"/>
          </a:p>
          <a:p>
            <a:pPr marL="177800" indent="-177800">
              <a:spcAft>
                <a:spcPts val="600"/>
              </a:spcAft>
              <a:buSzPct val="100000"/>
              <a:buChar char="•"/>
            </a:pPr>
            <a:r>
              <a:rPr lang="en-US" sz="1300" dirty="0">
                <a:solidFill>
                  <a:schemeClr val="tx1"/>
                </a:solidFill>
              </a:rPr>
              <a:t>Readiness checks the DB, liveness only the process</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Autoscaling under load</a:t>
            </a:r>
            <a:endParaRPr lang="en-US" sz="2800" dirty="0"/>
          </a:p>
        </p:txBody>
      </p:sp>
      <p:pic>
        <p:nvPicPr>
          <p:cNvPr id="3" name="hpa" descr="m8-hpa-scaled-under-load">    </p:cNvPr>
          <p:cNvPicPr>
            <a:picLocks noChangeAspect="1"/>
          </p:cNvPicPr>
          <p:nvPr/>
        </p:nvPicPr>
        <p:blipFill>
          <a:blip r:embed="rId1"/>
          <a:stretch>
            <a:fillRect/>
          </a:stretch>
        </p:blipFill>
        <p:spPr>
          <a:xfrm>
            <a:off x="457200" y="1520078"/>
            <a:ext cx="5669280" cy="2491964"/>
          </a:xfrm>
          <a:prstGeom prst="rect">
            <a:avLst/>
          </a:prstGeom>
          <a:effectLst>
            <a:outerShdw sx="100000" sy="100000" kx="0" ky="0" algn="bl" rotWithShape="0" blurRad="76200" dist="25400" dir="5400000">
              <a:srgbClr val="000000">
                <a:alpha val="18000"/>
              </a:srgbClr>
            </a:outerShdw>
          </a:effectLst>
        </p:spPr>
      </p:pic>
      <p:sp>
        <p:nvSpPr>
          <p:cNvPr id="4" name="stat-card"/>
          <p:cNvSpPr/>
          <p:nvPr/>
        </p:nvSpPr>
        <p:spPr>
          <a:xfrm>
            <a:off x="6355080" y="1005840"/>
            <a:ext cx="2331720" cy="960120"/>
          </a:xfrm>
          <a:prstGeom prst="roundRect">
            <a:avLst>
              <a:gd name="adj" fmla="val 7619"/>
            </a:avLst>
          </a:prstGeom>
          <a:solidFill>
            <a:srgbClr val="EEF4F3"/>
          </a:solidFill>
          <a:ln w="12700">
            <a:solidFill>
              <a:srgbClr val="EEF4F3"/>
            </a:solidFill>
            <a:prstDash val="solid"/>
          </a:ln>
        </p:spPr>
      </p:sp>
      <p:sp>
        <p:nvSpPr>
          <p:cNvPr id="5" name="Text 2"/>
          <p:cNvSpPr txBox="1"/>
          <p:nvPr/>
        </p:nvSpPr>
        <p:spPr>
          <a:xfrm>
            <a:off x="6492240" y="1078992"/>
            <a:ext cx="2057400" cy="502920"/>
          </a:xfrm>
          <a:prstGeom prst="rect">
            <a:avLst/>
          </a:prstGeom>
          <a:noFill/>
          <a:ln/>
        </p:spPr>
        <p:txBody>
          <a:bodyPr wrap="square" lIns="0" tIns="0" rIns="0" bIns="0" rtlCol="0" anchor="ctr"/>
          <a:lstStyle/>
          <a:p>
            <a:pPr indent="0" marL="0">
              <a:buNone/>
            </a:pPr>
            <a:r>
              <a:rPr lang="en-US" sz="3000" b="1" dirty="0">
                <a:solidFill>
                  <a:srgbClr val="F2A541"/>
                </a:solidFill>
                <a:latin typeface="Arial" pitchFamily="34" charset="0"/>
                <a:ea typeface="Arial" pitchFamily="34" charset="-122"/>
                <a:cs typeface="Arial" pitchFamily="34" charset="-120"/>
              </a:rPr>
              <a:t>2 → 6</a:t>
            </a:r>
            <a:endParaRPr lang="en-US" sz="3000" dirty="0"/>
          </a:p>
        </p:txBody>
      </p:sp>
      <p:sp>
        <p:nvSpPr>
          <p:cNvPr id="6" name="Text 3"/>
          <p:cNvSpPr txBox="1"/>
          <p:nvPr/>
        </p:nvSpPr>
        <p:spPr>
          <a:xfrm>
            <a:off x="6492240" y="1572768"/>
            <a:ext cx="2057400" cy="320040"/>
          </a:xfrm>
          <a:prstGeom prst="rect">
            <a:avLst/>
          </a:prstGeom>
          <a:noFill/>
          <a:ln/>
        </p:spPr>
        <p:txBody>
          <a:bodyPr wrap="square" lIns="0" tIns="0" rIns="0" bIns="0" rtlCol="0" anchor="ctr"/>
          <a:lstStyle/>
          <a:p>
            <a:pPr indent="0" marL="0">
              <a:buNone/>
            </a:pPr>
            <a:r>
              <a:rPr lang="en-US" sz="1100" dirty="0">
                <a:solidFill>
                  <a:schemeClr val="accent6"/>
                </a:solidFill>
              </a:rPr>
              <a:t>backend pods under load</a:t>
            </a:r>
            <a:endParaRPr lang="en-US" sz="1100" dirty="0"/>
          </a:p>
        </p:txBody>
      </p:sp>
      <p:sp>
        <p:nvSpPr>
          <p:cNvPr id="7" name="stat-card"/>
          <p:cNvSpPr/>
          <p:nvPr/>
        </p:nvSpPr>
        <p:spPr>
          <a:xfrm>
            <a:off x="6355080" y="2103120"/>
            <a:ext cx="2331720" cy="960120"/>
          </a:xfrm>
          <a:prstGeom prst="roundRect">
            <a:avLst>
              <a:gd name="adj" fmla="val 7619"/>
            </a:avLst>
          </a:prstGeom>
          <a:solidFill>
            <a:srgbClr val="EEF4F3"/>
          </a:solidFill>
          <a:ln w="12700">
            <a:solidFill>
              <a:srgbClr val="EEF4F3"/>
            </a:solidFill>
            <a:prstDash val="solid"/>
          </a:ln>
        </p:spPr>
      </p:sp>
      <p:sp>
        <p:nvSpPr>
          <p:cNvPr id="8" name="Text 5"/>
          <p:cNvSpPr txBox="1"/>
          <p:nvPr/>
        </p:nvSpPr>
        <p:spPr>
          <a:xfrm>
            <a:off x="6492240" y="2176272"/>
            <a:ext cx="2057400" cy="502920"/>
          </a:xfrm>
          <a:prstGeom prst="rect">
            <a:avLst/>
          </a:prstGeom>
          <a:noFill/>
          <a:ln/>
        </p:spPr>
        <p:txBody>
          <a:bodyPr wrap="square" lIns="0" tIns="0" rIns="0" bIns="0" rtlCol="0" anchor="ctr"/>
          <a:lstStyle/>
          <a:p>
            <a:pPr indent="0" marL="0">
              <a:buNone/>
            </a:pPr>
            <a:r>
              <a:rPr lang="en-US" sz="3000" b="1" dirty="0">
                <a:solidFill>
                  <a:srgbClr val="2D6A8F"/>
                </a:solidFill>
                <a:latin typeface="Arial" pitchFamily="34" charset="0"/>
                <a:ea typeface="Arial" pitchFamily="34" charset="-122"/>
                <a:cs typeface="Arial" pitchFamily="34" charset="-120"/>
              </a:rPr>
              <a:t>60%</a:t>
            </a:r>
            <a:endParaRPr lang="en-US" sz="3000" dirty="0"/>
          </a:p>
        </p:txBody>
      </p:sp>
      <p:sp>
        <p:nvSpPr>
          <p:cNvPr id="9" name="Text 6"/>
          <p:cNvSpPr txBox="1"/>
          <p:nvPr/>
        </p:nvSpPr>
        <p:spPr>
          <a:xfrm>
            <a:off x="6492240" y="2670048"/>
            <a:ext cx="2057400" cy="320040"/>
          </a:xfrm>
          <a:prstGeom prst="rect">
            <a:avLst/>
          </a:prstGeom>
          <a:noFill/>
          <a:ln/>
        </p:spPr>
        <p:txBody>
          <a:bodyPr wrap="square" lIns="0" tIns="0" rIns="0" bIns="0" rtlCol="0" anchor="ctr"/>
          <a:lstStyle/>
          <a:p>
            <a:pPr indent="0" marL="0">
              <a:buNone/>
            </a:pPr>
            <a:r>
              <a:rPr lang="en-US" sz="1100" dirty="0">
                <a:solidFill>
                  <a:schemeClr val="accent6"/>
                </a:solidFill>
              </a:rPr>
              <a:t>CPU target</a:t>
            </a:r>
            <a:endParaRPr lang="en-US" sz="1100" dirty="0"/>
          </a:p>
        </p:txBody>
      </p:sp>
      <p:sp>
        <p:nvSpPr>
          <p:cNvPr id="10" name="Text 7"/>
          <p:cNvSpPr txBox="1"/>
          <p:nvPr/>
        </p:nvSpPr>
        <p:spPr>
          <a:xfrm>
            <a:off x="6355080" y="3246120"/>
            <a:ext cx="2331720" cy="640080"/>
          </a:xfrm>
          <a:prstGeom prst="rect">
            <a:avLst/>
          </a:prstGeom>
          <a:noFill/>
          <a:ln/>
        </p:spPr>
        <p:txBody>
          <a:bodyPr wrap="square" lIns="0" tIns="0" rIns="0" bIns="0" rtlCol="0" anchor="ctr"/>
          <a:lstStyle/>
          <a:p>
            <a:pPr indent="0" marL="0">
              <a:buNone/>
            </a:pPr>
            <a:r>
              <a:rPr lang="en-US" sz="1300" dirty="0">
                <a:solidFill>
                  <a:schemeClr val="tx1"/>
                </a:solidFill>
              </a:rPr>
              <a:t>Scaled back down once the load test stopped</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Prometheus + Grafana</a:t>
            </a:r>
            <a:endParaRPr lang="en-US" sz="2800" dirty="0"/>
          </a:p>
        </p:txBody>
      </p:sp>
      <p:pic>
        <p:nvPicPr>
          <p:cNvPr id="3" name="grafana" descr="m9-grafana-dashboard">    </p:cNvPr>
          <p:cNvPicPr>
            <a:picLocks noChangeAspect="1"/>
          </p:cNvPicPr>
          <p:nvPr/>
        </p:nvPicPr>
        <p:blipFill>
          <a:blip r:embed="rId1"/>
          <a:stretch>
            <a:fillRect/>
          </a:stretch>
        </p:blipFill>
        <p:spPr>
          <a:xfrm>
            <a:off x="843077" y="960120"/>
            <a:ext cx="4623206" cy="3611880"/>
          </a:xfrm>
          <a:prstGeom prst="rect">
            <a:avLst/>
          </a:prstGeom>
          <a:effectLst>
            <a:outerShdw sx="100000" sy="100000" kx="0" ky="0" algn="bl" rotWithShape="0" blurRad="76200" dist="25400" dir="5400000">
              <a:srgbClr val="000000">
                <a:alpha val="18000"/>
              </a:srgbClr>
            </a:outerShdw>
          </a:effectLst>
        </p:spPr>
      </p:pic>
      <p:pic>
        <p:nvPicPr>
          <p:cNvPr id="4" name="targets" descr="m9-prometheus-targets-up">    </p:cNvPr>
          <p:cNvPicPr>
            <a:picLocks noChangeAspect="1"/>
          </p:cNvPicPr>
          <p:nvPr/>
        </p:nvPicPr>
        <p:blipFill>
          <a:blip r:embed="rId2"/>
          <a:stretch>
            <a:fillRect/>
          </a:stretch>
        </p:blipFill>
        <p:spPr>
          <a:xfrm>
            <a:off x="6504339" y="960120"/>
            <a:ext cx="1713162" cy="1828800"/>
          </a:xfrm>
          <a:prstGeom prst="rect">
            <a:avLst/>
          </a:prstGeom>
          <a:effectLst>
            <a:outerShdw sx="100000" sy="100000" kx="0" ky="0" algn="bl" rotWithShape="0" blurRad="76200" dist="25400" dir="5400000">
              <a:srgbClr val="000000">
                <a:alpha val="18000"/>
              </a:srgbClr>
            </a:outerShdw>
          </a:effectLst>
        </p:spPr>
      </p:pic>
      <p:sp>
        <p:nvSpPr>
          <p:cNvPr id="5" name="bullets"/>
          <p:cNvSpPr txBox="1"/>
          <p:nvPr/>
        </p:nvSpPr>
        <p:spPr>
          <a:xfrm>
            <a:off x="6035040" y="2971800"/>
            <a:ext cx="2651760" cy="1645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ServiceMonitor scrapes /metrics every 15 s</a:t>
            </a:r>
            <a:endParaRPr lang="en-US" sz="1200" dirty="0"/>
          </a:p>
          <a:p>
            <a:pPr marL="177800" indent="-177800">
              <a:spcAft>
                <a:spcPts val="600"/>
              </a:spcAft>
              <a:buSzPct val="100000"/>
              <a:buChar char="•"/>
            </a:pPr>
            <a:r>
              <a:rPr lang="en-US" sz="1200" dirty="0">
                <a:solidFill>
                  <a:schemeClr val="tx1"/>
                </a:solidFill>
              </a:rPr>
              <a:t>Custom metrics: bookings by specialty, booking conflicts</a:t>
            </a:r>
            <a:endParaRPr lang="en-US" sz="1200" dirty="0"/>
          </a:p>
          <a:p>
            <a:pPr marL="177800" indent="-177800">
              <a:spcAft>
                <a:spcPts val="600"/>
              </a:spcAft>
              <a:buSzPct val="100000"/>
              <a:buChar char="•"/>
            </a:pPr>
            <a:r>
              <a:rPr lang="en-US" sz="1200" dirty="0">
                <a:solidFill>
                  <a:schemeClr val="tx1"/>
                </a:solidFill>
              </a:rPr>
              <a:t>Dashboard ships inside the Helm chart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Demo: commit → pipeline → deployment</a:t>
            </a:r>
            <a:endParaRPr lang="en-US" sz="2800" dirty="0"/>
          </a:p>
        </p:txBody>
      </p:sp>
      <p:pic>
        <p:nvPicPr>
          <p:cNvPr id="3" name="demo1" descr="m10-demo-1-pipeline-running">    </p:cNvPr>
          <p:cNvPicPr>
            <a:picLocks noChangeAspect="1"/>
          </p:cNvPicPr>
          <p:nvPr/>
        </p:nvPicPr>
        <p:blipFill>
          <a:blip r:embed="rId1"/>
          <a:stretch>
            <a:fillRect/>
          </a:stretch>
        </p:blipFill>
        <p:spPr>
          <a:xfrm>
            <a:off x="1005840" y="960120"/>
            <a:ext cx="2926080" cy="1828800"/>
          </a:xfrm>
          <a:prstGeom prst="rect">
            <a:avLst/>
          </a:prstGeom>
          <a:effectLst>
            <a:outerShdw sx="100000" sy="100000" kx="0" ky="0" algn="bl" rotWithShape="0" blurRad="76200" dist="25400" dir="5400000">
              <a:srgbClr val="000000">
                <a:alpha val="18000"/>
              </a:srgbClr>
            </a:outerShdw>
          </a:effectLst>
        </p:spPr>
      </p:pic>
      <p:pic>
        <p:nvPicPr>
          <p:cNvPr id="4" name="demo3" descr="m10-demo-3-deploy-new-sha">    </p:cNvPr>
          <p:cNvPicPr>
            <a:picLocks noChangeAspect="1"/>
          </p:cNvPicPr>
          <p:nvPr/>
        </p:nvPicPr>
        <p:blipFill>
          <a:blip r:embed="rId2"/>
          <a:stretch>
            <a:fillRect/>
          </a:stretch>
        </p:blipFill>
        <p:spPr>
          <a:xfrm>
            <a:off x="4663440" y="1151454"/>
            <a:ext cx="4023360" cy="1446132"/>
          </a:xfrm>
          <a:prstGeom prst="rect">
            <a:avLst/>
          </a:prstGeom>
          <a:effectLst>
            <a:outerShdw sx="100000" sy="100000" kx="0" ky="0" algn="bl" rotWithShape="0" blurRad="76200" dist="25400" dir="5400000">
              <a:srgbClr val="000000">
                <a:alpha val="18000"/>
              </a:srgbClr>
            </a:outerShdw>
          </a:effectLst>
        </p:spPr>
      </p:pic>
      <p:sp>
        <p:nvSpPr>
          <p:cNvPr id="5" name="demo-steps"/>
          <p:cNvSpPr txBox="1"/>
          <p:nvPr/>
        </p:nvSpPr>
        <p:spPr>
          <a:xfrm>
            <a:off x="457200" y="3017520"/>
            <a:ext cx="8229600" cy="1463040"/>
          </a:xfrm>
          <a:prstGeom prst="rect">
            <a:avLst/>
          </a:prstGeom>
          <a:noFill/>
          <a:ln/>
        </p:spPr>
        <p:txBody>
          <a:bodyPr wrap="square" lIns="0" tIns="0" rIns="0" bIns="0" rtlCol="0" anchor="ctr"/>
          <a:lstStyle/>
          <a:p>
            <a:pPr indent="0" marL="0">
              <a:spcAft>
                <a:spcPts val="600"/>
              </a:spcAft>
              <a:buNone/>
            </a:pPr>
            <a:r>
              <a:rPr lang="en-US" sz="1400" dirty="0">
                <a:solidFill>
                  <a:schemeClr val="tx1"/>
                </a:solidFill>
              </a:rPr>
              <a:t>1  Commit a mobile-nav fix and push</a:t>
            </a:r>
            <a:endParaRPr lang="en-US" sz="1400" dirty="0"/>
          </a:p>
          <a:p>
            <a:pPr indent="0" marL="0">
              <a:spcAft>
                <a:spcPts val="600"/>
              </a:spcAft>
              <a:buNone/>
            </a:pPr>
            <a:r>
              <a:rPr lang="en-US" sz="1400" dirty="0">
                <a:solidFill>
                  <a:schemeClr val="tx1"/>
                </a:solidFill>
              </a:rPr>
              <a:t>2  Pipeline goes green; images tagged with the new SHA</a:t>
            </a:r>
            <a:endParaRPr lang="en-US" sz="1400" dirty="0"/>
          </a:p>
          <a:p>
            <a:pPr indent="0" marL="0">
              <a:spcAft>
                <a:spcPts val="600"/>
              </a:spcAft>
              <a:buNone/>
            </a:pPr>
            <a:r>
              <a:rPr lang="en-US" sz="1400" dirty="0">
                <a:solidFill>
                  <a:schemeClr val="tx1"/>
                </a:solidFill>
              </a:rPr>
              <a:t>3  scripts/deploy.sh → helm upgrade; pods roll to the new tag</a:t>
            </a:r>
            <a:endParaRPr lang="en-US" sz="1400" dirty="0"/>
          </a:p>
          <a:p>
            <a:pPr indent="0" marL="0">
              <a:spcAft>
                <a:spcPts val="600"/>
              </a:spcAft>
              <a:buNone/>
            </a:pPr>
            <a:r>
              <a:rPr lang="en-US" sz="1400" dirty="0">
                <a:solidFill>
                  <a:schemeClr val="tx1"/>
                </a:solidFill>
              </a:rPr>
              <a:t>4  The fix is live in the app</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chemeClr val="tx2"/>
                </a:solidFill>
                <a:latin typeface="Arial" pitchFamily="34" charset="0"/>
                <a:ea typeface="Arial" pitchFamily="34" charset="-122"/>
                <a:cs typeface="Arial" pitchFamily="34" charset="-120"/>
              </a:rPr>
              <a:t>Troubleshooting lab</a:t>
            </a:r>
            <a:endParaRPr lang="en-US" sz="28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2011680"/>
                <a:gridCol w="2377440"/>
                <a:gridCol w="21031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Broken</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D3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Symptom</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D3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Found with</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D3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D3B3E"/>
                    </a:solidFill>
                  </a:tcPr>
                </a:tc>
              </a:tr>
              <a:tr h="384048">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Image tag</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4F3"/>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ImagePullBackOff</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4F3"/>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kubectl describe pod</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4F3"/>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Correct the tag</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4F3"/>
                    </a:solidFill>
                  </a:tcPr>
                </a:tc>
              </a:tr>
              <a:tr h="384048">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Service selector</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No endpoints, 503</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kubectl get endpoints</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Match pod labels</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DB password</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4F3"/>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Running, never Ready</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4F3"/>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logs + /ready → 503</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4F3"/>
                    </a:solidFill>
                  </a:tcPr>
                </a:tc>
                <a:tc>
                  <a:txBody>
                    <a:bodyPr/>
                    <a:lstStyle/>
                    <a:p>
                      <a:pPr indent="0" marL="0">
                        <a:buNone/>
                      </a:pPr>
                      <a:r>
                        <a:rPr lang="en-US" sz="1300" dirty="0">
                          <a:solidFill>
                            <a:srgbClr val="14292B"/>
                          </a:solidFill>
                          <a:latin typeface="Calibri" pitchFamily="34" charset="0"/>
                          <a:ea typeface="Calibri" pitchFamily="34" charset="-122"/>
                          <a:cs typeface="Calibri" pitchFamily="34" charset="-120"/>
                        </a:rPr>
                        <a:t>Fix the secret</a:t>
                      </a:r>
                      <a:endParaRPr lang="en-US" sz="13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4F3"/>
                    </a:solidFill>
                  </a:tcPr>
                </a:tc>
              </a:tr>
            </a:tbl>
          </a:graphicData>
        </a:graphic>
      </p:graphicFrame>
      <p:pic>
        <p:nvPicPr>
          <p:cNvPr id="4" name="t2" descr="t2-broken-service-diagnose">    </p:cNvPr>
          <p:cNvPicPr>
            <a:picLocks noChangeAspect="1"/>
          </p:cNvPicPr>
          <p:nvPr/>
        </p:nvPicPr>
        <p:blipFill>
          <a:blip r:embed="rId1"/>
          <a:stretch>
            <a:fillRect/>
          </a:stretch>
        </p:blipFill>
        <p:spPr>
          <a:xfrm>
            <a:off x="457200" y="2935224"/>
            <a:ext cx="8229600" cy="1444752"/>
          </a:xfrm>
          <a:prstGeom prst="rect">
            <a:avLst/>
          </a:prstGeom>
          <a:effectLst>
            <a:outerShdw sx="100000" sy="100000" kx="0" ky="0" algn="bl" rotWithShape="0" blurRad="76200" dist="25400" dir="5400000">
              <a:srgbClr val="000000">
                <a:alpha val="18000"/>
              </a:srgbClr>
            </a:outerShdw>
          </a:effectLst>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548640"/>
            <a:ext cx="8046720" cy="64008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What I learned</a:t>
            </a:r>
            <a:endParaRPr lang="en-US" sz="3400" dirty="0"/>
          </a:p>
        </p:txBody>
      </p:sp>
      <p:sp>
        <p:nvSpPr>
          <p:cNvPr id="3" name="Shape 1"/>
          <p:cNvSpPr/>
          <p:nvPr/>
        </p:nvSpPr>
        <p:spPr>
          <a:xfrm>
            <a:off x="548640" y="1463040"/>
            <a:ext cx="365760" cy="365760"/>
          </a:xfrm>
          <a:prstGeom prst="ellipse">
            <a:avLst/>
          </a:prstGeom>
          <a:solidFill>
            <a:srgbClr val="0E8A72"/>
          </a:solidFill>
          <a:ln w="12700">
            <a:solidFill>
              <a:srgbClr val="0E8A72"/>
            </a:solidFill>
            <a:prstDash val="solid"/>
          </a:ln>
        </p:spPr>
      </p:sp>
      <p:sp>
        <p:nvSpPr>
          <p:cNvPr id="4" name="Text 2"/>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097280" y="1417320"/>
            <a:ext cx="7315200" cy="274320"/>
          </a:xfrm>
          <a:prstGeom prst="rect">
            <a:avLst/>
          </a:prstGeom>
          <a:noFill/>
          <a:ln/>
        </p:spPr>
        <p:txBody>
          <a:bodyPr wrap="square" lIns="0" tIns="0" rIns="0" bIns="0" rtlCol="0" anchor="ctr"/>
          <a:lstStyle/>
          <a:p>
            <a:pPr indent="0" marL="0">
              <a:buNone/>
            </a:pPr>
            <a:r>
              <a:rPr lang="en-US" sz="1700" b="1" dirty="0">
                <a:solidFill>
                  <a:schemeClr val="bg1"/>
                </a:solidFill>
              </a:rPr>
              <a:t>Security gates catch real bugs</a:t>
            </a:r>
            <a:endParaRPr lang="en-US" sz="1700" dirty="0"/>
          </a:p>
        </p:txBody>
      </p:sp>
      <p:sp>
        <p:nvSpPr>
          <p:cNvPr id="6" name="Text 4"/>
          <p:cNvSpPr txBox="1"/>
          <p:nvPr/>
        </p:nvSpPr>
        <p:spPr>
          <a:xfrm>
            <a:off x="1097280" y="1709928"/>
            <a:ext cx="7315200" cy="274320"/>
          </a:xfrm>
          <a:prstGeom prst="rect">
            <a:avLst/>
          </a:prstGeom>
          <a:noFill/>
          <a:ln/>
        </p:spPr>
        <p:txBody>
          <a:bodyPr wrap="square" lIns="0" tIns="0" rIns="0" bIns="0" rtlCol="0" anchor="ctr"/>
          <a:lstStyle/>
          <a:p>
            <a:pPr indent="0" marL="0">
              <a:buNone/>
            </a:pPr>
            <a:r>
              <a:rPr lang="en-US" sz="1300" dirty="0">
                <a:solidFill>
                  <a:srgbClr val="7FB8AC"/>
                </a:solidFill>
              </a:rPr>
              <a:t>Trivy blocked a live CVE before it shipped</a:t>
            </a:r>
            <a:endParaRPr lang="en-US" sz="1300" dirty="0"/>
          </a:p>
        </p:txBody>
      </p:sp>
      <p:sp>
        <p:nvSpPr>
          <p:cNvPr id="7" name="Shape 5"/>
          <p:cNvSpPr/>
          <p:nvPr/>
        </p:nvSpPr>
        <p:spPr>
          <a:xfrm>
            <a:off x="548640" y="2240280"/>
            <a:ext cx="365760" cy="365760"/>
          </a:xfrm>
          <a:prstGeom prst="ellipse">
            <a:avLst/>
          </a:prstGeom>
          <a:solidFill>
            <a:srgbClr val="0E8A72"/>
          </a:solidFill>
          <a:ln w="12700">
            <a:solidFill>
              <a:srgbClr val="0E8A72"/>
            </a:solidFill>
            <a:prstDash val="solid"/>
          </a:ln>
        </p:spPr>
      </p:sp>
      <p:sp>
        <p:nvSpPr>
          <p:cNvPr id="8" name="Text 6"/>
          <p:cNvSpPr txBox="1"/>
          <p:nvPr/>
        </p:nvSpPr>
        <p:spPr>
          <a:xfrm>
            <a:off x="548640" y="22402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1097280" y="2194560"/>
            <a:ext cx="7315200" cy="274320"/>
          </a:xfrm>
          <a:prstGeom prst="rect">
            <a:avLst/>
          </a:prstGeom>
          <a:noFill/>
          <a:ln/>
        </p:spPr>
        <p:txBody>
          <a:bodyPr wrap="square" lIns="0" tIns="0" rIns="0" bIns="0" rtlCol="0" anchor="ctr"/>
          <a:lstStyle/>
          <a:p>
            <a:pPr indent="0" marL="0">
              <a:buNone/>
            </a:pPr>
            <a:r>
              <a:rPr lang="en-US" sz="1700" b="1" dirty="0">
                <a:solidFill>
                  <a:schemeClr val="bg1"/>
                </a:solidFill>
              </a:rPr>
              <a:t>Readiness ≠ liveness</a:t>
            </a:r>
            <a:endParaRPr lang="en-US" sz="1700" dirty="0"/>
          </a:p>
        </p:txBody>
      </p:sp>
      <p:sp>
        <p:nvSpPr>
          <p:cNvPr id="10" name="Text 8"/>
          <p:cNvSpPr txBox="1"/>
          <p:nvPr/>
        </p:nvSpPr>
        <p:spPr>
          <a:xfrm>
            <a:off x="1097280" y="2487168"/>
            <a:ext cx="7315200" cy="274320"/>
          </a:xfrm>
          <a:prstGeom prst="rect">
            <a:avLst/>
          </a:prstGeom>
          <a:noFill/>
          <a:ln/>
        </p:spPr>
        <p:txBody>
          <a:bodyPr wrap="square" lIns="0" tIns="0" rIns="0" bIns="0" rtlCol="0" anchor="ctr"/>
          <a:lstStyle/>
          <a:p>
            <a:pPr indent="0" marL="0">
              <a:buNone/>
            </a:pPr>
            <a:r>
              <a:rPr lang="en-US" sz="1300" dirty="0">
                <a:solidFill>
                  <a:srgbClr val="7FB8AC"/>
                </a:solidFill>
              </a:rPr>
              <a:t>a DB outage should drain traffic, not restart pods</a:t>
            </a:r>
            <a:endParaRPr lang="en-US" sz="1300" dirty="0"/>
          </a:p>
        </p:txBody>
      </p:sp>
      <p:sp>
        <p:nvSpPr>
          <p:cNvPr id="11" name="Shape 9"/>
          <p:cNvSpPr/>
          <p:nvPr/>
        </p:nvSpPr>
        <p:spPr>
          <a:xfrm>
            <a:off x="548640" y="3017520"/>
            <a:ext cx="365760" cy="365760"/>
          </a:xfrm>
          <a:prstGeom prst="ellipse">
            <a:avLst/>
          </a:prstGeom>
          <a:solidFill>
            <a:srgbClr val="0E8A72"/>
          </a:solidFill>
          <a:ln w="12700">
            <a:solidFill>
              <a:srgbClr val="0E8A72"/>
            </a:solidFill>
            <a:prstDash val="solid"/>
          </a:ln>
        </p:spPr>
      </p:sp>
      <p:sp>
        <p:nvSpPr>
          <p:cNvPr id="12" name="Text 10"/>
          <p:cNvSpPr txBox="1"/>
          <p:nvPr/>
        </p:nvSpPr>
        <p:spPr>
          <a:xfrm>
            <a:off x="548640" y="30175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097280" y="2971800"/>
            <a:ext cx="7315200" cy="274320"/>
          </a:xfrm>
          <a:prstGeom prst="rect">
            <a:avLst/>
          </a:prstGeom>
          <a:noFill/>
          <a:ln/>
        </p:spPr>
        <p:txBody>
          <a:bodyPr wrap="square" lIns="0" tIns="0" rIns="0" bIns="0" rtlCol="0" anchor="ctr"/>
          <a:lstStyle/>
          <a:p>
            <a:pPr indent="0" marL="0">
              <a:buNone/>
            </a:pPr>
            <a:r>
              <a:rPr lang="en-US" sz="1700" b="1" dirty="0">
                <a:solidFill>
                  <a:schemeClr val="bg1"/>
                </a:solidFill>
              </a:rPr>
              <a:t>Read the cloud's logs</a:t>
            </a:r>
            <a:endParaRPr lang="en-US" sz="1700" dirty="0"/>
          </a:p>
        </p:txBody>
      </p:sp>
      <p:sp>
        <p:nvSpPr>
          <p:cNvPr id="14" name="Text 12"/>
          <p:cNvSpPr txBox="1"/>
          <p:nvPr/>
        </p:nvSpPr>
        <p:spPr>
          <a:xfrm>
            <a:off x="1097280" y="3264408"/>
            <a:ext cx="7315200" cy="274320"/>
          </a:xfrm>
          <a:prstGeom prst="rect">
            <a:avLst/>
          </a:prstGeom>
          <a:noFill/>
          <a:ln/>
        </p:spPr>
        <p:txBody>
          <a:bodyPr wrap="square" lIns="0" tIns="0" rIns="0" bIns="0" rtlCol="0" anchor="ctr"/>
          <a:lstStyle/>
          <a:p>
            <a:pPr indent="0" marL="0">
              <a:buNone/>
            </a:pPr>
            <a:r>
              <a:rPr lang="en-US" sz="1300" dirty="0">
                <a:solidFill>
                  <a:srgbClr val="7FB8AC"/>
                </a:solidFill>
              </a:rPr>
              <a:t>CloudTrail explained a node group that never came up</a:t>
            </a:r>
            <a:endParaRPr lang="en-US" sz="1300" dirty="0"/>
          </a:p>
        </p:txBody>
      </p:sp>
      <p:sp>
        <p:nvSpPr>
          <p:cNvPr id="15" name="Shape 13"/>
          <p:cNvSpPr/>
          <p:nvPr/>
        </p:nvSpPr>
        <p:spPr>
          <a:xfrm>
            <a:off x="548640" y="3794760"/>
            <a:ext cx="365760" cy="365760"/>
          </a:xfrm>
          <a:prstGeom prst="ellipse">
            <a:avLst/>
          </a:prstGeom>
          <a:solidFill>
            <a:srgbClr val="0E8A72"/>
          </a:solidFill>
          <a:ln w="12700">
            <a:solidFill>
              <a:srgbClr val="0E8A72"/>
            </a:solidFill>
            <a:prstDash val="solid"/>
          </a:ln>
        </p:spPr>
      </p:sp>
      <p:sp>
        <p:nvSpPr>
          <p:cNvPr id="16" name="Text 14"/>
          <p:cNvSpPr txBox="1"/>
          <p:nvPr/>
        </p:nvSpPr>
        <p:spPr>
          <a:xfrm>
            <a:off x="548640" y="3794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5"/>
          <p:cNvSpPr txBox="1"/>
          <p:nvPr/>
        </p:nvSpPr>
        <p:spPr>
          <a:xfrm>
            <a:off x="1097280" y="3749040"/>
            <a:ext cx="7315200" cy="274320"/>
          </a:xfrm>
          <a:prstGeom prst="rect">
            <a:avLst/>
          </a:prstGeom>
          <a:noFill/>
          <a:ln/>
        </p:spPr>
        <p:txBody>
          <a:bodyPr wrap="square" lIns="0" tIns="0" rIns="0" bIns="0" rtlCol="0" anchor="ctr"/>
          <a:lstStyle/>
          <a:p>
            <a:pPr indent="0" marL="0">
              <a:buNone/>
            </a:pPr>
            <a:r>
              <a:rPr lang="en-US" sz="1700" b="1" dirty="0">
                <a:solidFill>
                  <a:schemeClr val="bg1"/>
                </a:solidFill>
              </a:rPr>
              <a:t>Always destroy</a:t>
            </a:r>
            <a:endParaRPr lang="en-US" sz="1700" dirty="0"/>
          </a:p>
        </p:txBody>
      </p:sp>
      <p:sp>
        <p:nvSpPr>
          <p:cNvPr id="18" name="Text 16"/>
          <p:cNvSpPr txBox="1"/>
          <p:nvPr/>
        </p:nvSpPr>
        <p:spPr>
          <a:xfrm>
            <a:off x="1097280" y="4041648"/>
            <a:ext cx="7315200" cy="274320"/>
          </a:xfrm>
          <a:prstGeom prst="rect">
            <a:avLst/>
          </a:prstGeom>
          <a:noFill/>
          <a:ln/>
        </p:spPr>
        <p:txBody>
          <a:bodyPr wrap="square" lIns="0" tIns="0" rIns="0" bIns="0" rtlCol="0" anchor="ctr"/>
          <a:lstStyle/>
          <a:p>
            <a:pPr indent="0" marL="0">
              <a:buNone/>
            </a:pPr>
            <a:r>
              <a:rPr lang="en-US" sz="1300" dirty="0">
                <a:solidFill>
                  <a:srgbClr val="7FB8AC"/>
                </a:solidFill>
              </a:rPr>
              <a:t>terraform destroy and verify: 0 resources, ~$1 spent</a:t>
            </a:r>
            <a:endParaRPr lang="en-US" sz="1300" dirty="0"/>
          </a:p>
        </p:txBody>
      </p:sp>
      <p:sp>
        <p:nvSpPr>
          <p:cNvPr id="19" name="Text 17"/>
          <p:cNvSpPr txBox="1"/>
          <p:nvPr/>
        </p:nvSpPr>
        <p:spPr>
          <a:xfrm>
            <a:off x="548640" y="4526280"/>
            <a:ext cx="8046720" cy="274320"/>
          </a:xfrm>
          <a:prstGeom prst="rect">
            <a:avLst/>
          </a:prstGeom>
          <a:noFill/>
          <a:ln/>
        </p:spPr>
        <p:txBody>
          <a:bodyPr wrap="square" lIns="0" tIns="0" rIns="0" bIns="0" rtlCol="0" anchor="ctr"/>
          <a:lstStyle/>
          <a:p>
            <a:pPr indent="0" marL="0">
              <a:buNone/>
            </a:pPr>
            <a:r>
              <a:rPr lang="en-US" sz="1200" dirty="0">
                <a:solidFill>
                  <a:schemeClr val="bg1"/>
                </a:solidFill>
              </a:rPr>
              <a:t>Thank you  ·  github.com/SamarthPD-21/clinicflow</a:t>
            </a:r>
            <a:endParaRPr lang="en-US" sz="1200" dirty="0"/>
          </a:p>
        </p:txBody>
      </p:sp>
    </p:spTree>
  </p:cSld>
  <p:clrMapOvr>
    <a:masterClrMapping/>
  </p:clrMapOvr>
</p:sld>
</file>

<file path=ppt/theme/theme1.xml><?xml version="1.0" encoding="utf-8"?>
<a:theme xmlns:a="http://schemas.openxmlformats.org/drawingml/2006/main" name="ClinicFlow">
  <a:themeElements>
    <a:clrScheme name="ClinicFlow">
      <a:dk1>
        <a:srgbClr val="14292B"/>
      </a:dk1>
      <a:lt1>
        <a:srgbClr val="FFFFFF"/>
      </a:lt1>
      <a:dk2>
        <a:srgbClr val="0D3B3E"/>
      </a:dk2>
      <a:lt2>
        <a:srgbClr val="EEF4F3"/>
      </a:lt2>
      <a:accent1>
        <a:srgbClr val="0E8A72"/>
      </a:accent1>
      <a:accent2>
        <a:srgbClr val="F2A541"/>
      </a:accent2>
      <a:accent3>
        <a:srgbClr val="D1495B"/>
      </a:accent3>
      <a:accent4>
        <a:srgbClr val="2D6A8F"/>
      </a:accent4>
      <a:accent5>
        <a:srgbClr val="7FB8AC"/>
      </a:accent5>
      <a:accent6>
        <a:srgbClr val="5C6B6E"/>
      </a:accent6>
      <a:hlink>
        <a:srgbClr val="0E8A72"/>
      </a:hlink>
      <a:folHlink>
        <a:srgbClr val="2D6A8F"/>
      </a:folHlink>
    </a:clrScheme>
    <a:fontScheme name="ClinicFlo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ClinicFlow - DevOps Capstone</dc:title>
  <dc:subject>PptxGenJS Presentation</dc:subject>
  <dc:creator>Samarth Deshpande</dc:creator>
  <cp:lastModifiedBy>Samarth Deshpande</cp:lastModifiedBy>
  <cp:revision>1</cp:revision>
  <dcterms:created xsi:type="dcterms:W3CDTF">2026-10-26T17:37:07Z</dcterms:created>
  <dcterms:modified xsi:type="dcterms:W3CDTF">2026-10-26T17:37:07Z</dcterms:modified>
</cp:coreProperties>
</file>